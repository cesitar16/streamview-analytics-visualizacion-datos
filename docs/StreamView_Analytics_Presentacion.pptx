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15 segundos,Buenos días. Somos César Rojas, Lucas Moncada e Ignacio Silva. StreamView Analytics tiene miles de películas y series, con datos de géneros, países, idiomas, popularidad, valoración y variables financieras. Podría parecer que con tantos datos tomar decisiones debería ser sencillo. Pero justamente ahí comienza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35 segundos,Actualmente StreamView administra un catálogo audiovisual amplio. El problema no es que falten datos; el problema es que distintas áreas pueden estar mirando reportes con criterios diferentes. Eso dificulta obtener una visión consolidada, identificar tendencias y decidir qué contenidos adquirir, promocionar o priorizar. Por eso nuestro desafío fue transformar estos datos en información visual clara, orientada a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35 segundos,Para responder bien, primero definimos quién utilizaría la información. Nuestra audiencia principal es ejecutiva, especialmente el Directorio y la Gerencia General. Esta audiencia necesita KPIs consolidados, tendencias, comparaciones y recomendaciones, pero no puede detenerse a interpretar todo el detalle técnico. Por eso nuestro propósito comunicacional fue reducir la complejidad y convertir los datos del catálogo en evidencia útil para decisiones de adquisición, promoción e inversión.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30 segundos,Esta necesidad definió nuestra forma de comunicar. Utilizamos una estructura de storytelling de tres actos: primero contexto, luego evidencia y finalmente decisión. En lugar de presentar una colección de gráficos, cada visualización responde una pregunta y conduce al siguiente hallazgo. Además, en cada hallazgo seguimos la lógica de situación, hallazgo, implicancia y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45 segundos,Trabajamos exclusivamente con las dos fuentes oficiales: 16 mil registros de películas y 16 mil de series. Antes de visualizar revisamos nulos, duplicados, tipos, formatos, fechas y valores atípicos. Mantuvimos los archivos originales intactos y construimos vistas específicas para cada análisis. La revisión reveló limitaciones: por ejemplo, rating debía representar clasificación etaria, pero replica vote_average, por lo que no la utilizamos con ese propósito. Finalmente consolidamos 31.991 contenidos únicos.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35 segundos,Con los datos preparados comenzamos por la pregunta más básica: cómo está compuesto el catálogo. A primera vista encontramos un equilibrio casi perfecto: 16 mil películas y 15.991 series. Para esta comparación usamos barras porque la variable es categórica y estamos comparando cantidades. Pero este equilibrio por formato no significa que el catálogo sea homogéneo.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César — 50 segundos,Al mirar otras dimensiones, el equilibrio desaparece. Drama concentra 14.769 contenidos, seguido por Comedy y Animation. En representación geográfica, Estados Unidos lidera con 10.955 contenidos asociados; y en idiomas, el código en concentra 13.969 contenidos. Usamos barras ordenadas porque permiten identificar rápidamente las categorías predominantes y reducen la carga cognitiva. Así, la primera conclusión es que un catálogo equilibrado por formato puede estar muy concentrado en contenido, país e idioma. Y esto abre la siguiente pregunta: si películas y series pesan casi lo mismo en cantidad, ¿también se comportan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40 segundos,Cuando incorporamos popularidad, la aparente similitud entre películas y series empieza a romperse. La mediana de popularidad de películas es 10,91, mientras que en series llega a 36,21. Es decir, la serie típica tiene una popularidad aproximadamente 3,32 veces mayor. Usamos la mediana como referencia principal porque la variable presenta valores extremos y asimetría. Esto implica que no conviene evaluar películas y series con el mismo umbral de popularidad.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40 segundos,Al analizar valoración, las series tienen una calificación promedio de 7,02 frente a 6,31 en películas. Pero esa lectura cambia cuando incorporamos la cantidad de votos: las películas acumulan cerca de 11,5 millones de votos, mientras las series reúnen alrededor de 1,7 millones. Por eso una calificación no debe interpretarse sola; también se necesita saber cuánta evidencia la respalda.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45 segundos,Después preguntamos si los contenidos más populares también son los mejor evaluados. Usamos un gráfico de dispersión porque relacionamos dos variables cuantitativas, y medimos asociación con Spearman debido a la asimetría de los datos. En películas la asociación es débil, 0,22. En series prácticamente desaparece, con 0,04. Por lo tanto, popularidad y valoración cuentan historias distintas y deben mantenerse como criterios separados.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45 segundos,Al segmentar por género observamos que Soap, News y Talk lideran la popularidad típica. Este resultado orienta una exploración editorial, pero no lo interpretamos como causalidad. Luego revisamos la evolución temporal: las películas alcanzan su mayor popularidad mediana en 2024, mientras que las series lo hacen en 2018. Usamos líneas porque son adecuadas para cambios ordenados en el tiempo. Hasta aquí, el hallazgo central es que no existe un único indicador suficiente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30 segundos,Hasta ahora mostramos hallazgos seleccionados para la audiencia ejecutiva. El dashboard cumple otro rol: permitir explorar la información sin sobrecargar la presentación. Debe integrar KPIs, filtros por tipo, género, país, idioma y año, navegación por secciones e interacción para profundizar. La presentación resume la historia; el dashboard permite investigarla.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 45 segundos,Para responder la dimensión financiera trabajamos solo con películas, porque presupuesto e ingresos no están disponibles para series. Al aplicar la regla de presupuesto e ingresos positivos, quedan 3.540 películas, equivalente al 22,125% del dataset de Movies. Usamos dispersión con escalas logarítmicas porque presupuesto e ingresos son muy asimétricos. La asociación Spearman es 0,710: una mayor inversión se asocia con mayores ingresos, pero la dispersión demuestra que invertir más no garantiza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 40 segundos,La lectura cambia al separar ingresos absolutos y retorno. En ingresos, Avengers: Endgame lidera con aproximadamente 2.799 millones de dólares. Pero al calcular ROI, definido como ingresos dividido por presupuesto, aparecen otros títulos y también casos extremos por presupuestos registrados muy pequeños. Por eso no usamos el ROI de forma aislada: siempre debe leerse junto con presupuesto e ingresos.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 35 segundos,Para pasar de describir a priorizar, identificamos películas de bajo presupuesto y alto retorno utilizando la propia distribución de los datos. Bajo presupuesto corresponde hasta el percentil 25 y alto retorno desde el percentil 75. La intersección identifica 295 películas. Esto no garantiza éxito futuro, pero sí entrega un criterio basado en evidencia para priorizar revisión editorial y financiera.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 35 segundos,También evaluamos críticamente la solución. Como fortaleza, construimos un flujo reproducible, mantuvimos trazabilidad desde los RAW y adaptamos cada visualización a una pregunta. Las limitaciones también son importantes: finanzas solo cubre el 22,125% de Movies, rating no permite análisis etario, popularity no equivale a reproducciones y 2025 tiene menor cobertura de valoración. Por eso nuestros resultados describen evidencia disponible y no los interpretamos como relaciones causales.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Ignacio — 45 segundos,Al integrar toda la evidencia, llegamos a tres recomendaciones. Primero, evaluar películas y series considerando sus propios patrones, porque se comportan distinto. Segundo, no usar popularidad o calificación de forma aislada; recomendamos combinar popularidad, valoración y cantidad de votos. Tercero, para decisiones financieras, separar ingresos absolutos de retorno, porque no priorizan los mismos contenidos. En conclusión, StreamView ya dispone de mucha información; nuestro aporte es transformarla en evidencia comprensible para decidir qué mirar, cómo compararlo y cuándo actuar.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D17A22"/>
          </a:solidFill>
          <a:ln w="12700">
            <a:solidFill>
              <a:srgbClr val="D17A22">
                <a:alpha val="0"/>
              </a:srgbClr>
            </a:solidFill>
            <a:prstDash val="solid"/>
          </a:ln>
        </p:spPr>
      </p:sp>
      <p:sp>
        <p:nvSpPr>
          <p:cNvPr id="3" name="Shape 1"/>
          <p:cNvSpPr/>
          <p:nvPr/>
        </p:nvSpPr>
        <p:spPr>
          <a:xfrm>
            <a:off x="128016" y="0"/>
            <a:ext cx="45720" cy="6858000"/>
          </a:xfrm>
          <a:prstGeom prst="rect">
            <a:avLst/>
          </a:prstGeom>
          <a:solidFill>
            <a:srgbClr val="2F6690"/>
          </a:solidFill>
          <a:ln w="12700">
            <a:solidFill>
              <a:srgbClr val="2F6690">
                <a:alpha val="0"/>
              </a:srgbClr>
            </a:solidFill>
            <a:prstDash val="solid"/>
          </a:ln>
        </p:spPr>
      </p:sp>
      <p:sp>
        <p:nvSpPr>
          <p:cNvPr id="4" name="Text 2"/>
          <p:cNvSpPr/>
          <p:nvPr/>
        </p:nvSpPr>
        <p:spPr>
          <a:xfrm>
            <a:off x="658368" y="822960"/>
            <a:ext cx="4572000" cy="1078992"/>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StreamView</a:t>
            </a:r>
            <a:endParaRPr lang="en-US" sz="4000" dirty="0"/>
          </a:p>
          <a:p>
            <a:pPr indent="0" marL="0">
              <a:buNone/>
            </a:pPr>
            <a:r>
              <a:rPr lang="en-US" sz="4000" b="1" dirty="0">
                <a:solidFill>
                  <a:srgbClr val="FFFFFF"/>
                </a:solidFill>
                <a:latin typeface="Aptos Display" pitchFamily="34" charset="0"/>
                <a:ea typeface="Aptos Display" pitchFamily="34" charset="-122"/>
                <a:cs typeface="Aptos Display" pitchFamily="34" charset="-120"/>
              </a:rPr>
              <a:t>Analytics</a:t>
            </a:r>
            <a:endParaRPr lang="en-US" sz="4000" dirty="0"/>
          </a:p>
        </p:txBody>
      </p:sp>
      <p:sp>
        <p:nvSpPr>
          <p:cNvPr id="5" name="Text 3"/>
          <p:cNvSpPr/>
          <p:nvPr/>
        </p:nvSpPr>
        <p:spPr>
          <a:xfrm>
            <a:off x="676656" y="2240280"/>
            <a:ext cx="6126480" cy="384048"/>
          </a:xfrm>
          <a:prstGeom prst="rect">
            <a:avLst/>
          </a:prstGeom>
          <a:noFill/>
          <a:ln/>
        </p:spPr>
        <p:txBody>
          <a:bodyPr wrap="square" lIns="0" tIns="0" rIns="0" bIns="0" rtlCol="0" anchor="ctr">
            <a:normAutofit/>
          </a:bodyPr>
          <a:lstStyle/>
          <a:p>
            <a:pPr indent="0" marL="0">
              <a:buNone/>
            </a:pPr>
            <a:r>
              <a:rPr lang="en-US" sz="1900" dirty="0">
                <a:solidFill>
                  <a:srgbClr val="DDE8F4"/>
                </a:solidFill>
              </a:rPr>
              <a:t>De un catálogo fragmentado a decisiones fundamentadas</a:t>
            </a:r>
            <a:endParaRPr lang="en-US" sz="1900" dirty="0"/>
          </a:p>
        </p:txBody>
      </p:sp>
      <p:sp>
        <p:nvSpPr>
          <p:cNvPr id="6" name="Shape 4"/>
          <p:cNvSpPr/>
          <p:nvPr/>
        </p:nvSpPr>
        <p:spPr>
          <a:xfrm>
            <a:off x="676656" y="2852928"/>
            <a:ext cx="4023360" cy="0"/>
          </a:xfrm>
          <a:prstGeom prst="line">
            <a:avLst/>
          </a:prstGeom>
          <a:noFill/>
          <a:ln w="34290">
            <a:solidFill>
              <a:srgbClr val="D17A22"/>
            </a:solidFill>
            <a:prstDash val="solid"/>
          </a:ln>
        </p:spPr>
      </p:sp>
      <p:sp>
        <p:nvSpPr>
          <p:cNvPr id="7" name="Text 5"/>
          <p:cNvSpPr/>
          <p:nvPr/>
        </p:nvSpPr>
        <p:spPr>
          <a:xfrm>
            <a:off x="685800" y="3154680"/>
            <a:ext cx="4297680" cy="228600"/>
          </a:xfrm>
          <a:prstGeom prst="rect">
            <a:avLst/>
          </a:prstGeom>
          <a:noFill/>
          <a:ln/>
        </p:spPr>
        <p:txBody>
          <a:bodyPr wrap="square" lIns="0" tIns="0" rIns="0" bIns="0" rtlCol="0" anchor="ctr"/>
          <a:lstStyle/>
          <a:p>
            <a:pPr indent="0" marL="0">
              <a:buNone/>
            </a:pPr>
            <a:r>
              <a:rPr lang="en-US" sz="1250" dirty="0">
                <a:solidFill>
                  <a:srgbClr val="CBD5E1"/>
                </a:solidFill>
              </a:rPr>
              <a:t>ADY1104 · Visualización de Datos</a:t>
            </a:r>
            <a:endParaRPr lang="en-US" sz="1250" dirty="0"/>
          </a:p>
        </p:txBody>
      </p:sp>
      <p:sp>
        <p:nvSpPr>
          <p:cNvPr id="8" name="Text 6"/>
          <p:cNvSpPr/>
          <p:nvPr/>
        </p:nvSpPr>
        <p:spPr>
          <a:xfrm>
            <a:off x="685800" y="3502152"/>
            <a:ext cx="5120640" cy="228600"/>
          </a:xfrm>
          <a:prstGeom prst="rect">
            <a:avLst/>
          </a:prstGeom>
          <a:noFill/>
          <a:ln/>
        </p:spPr>
        <p:txBody>
          <a:bodyPr wrap="square" lIns="0" tIns="0" rIns="0" bIns="0" rtlCol="0" anchor="ctr"/>
          <a:lstStyle/>
          <a:p>
            <a:pPr indent="0" marL="0">
              <a:buNone/>
            </a:pPr>
            <a:r>
              <a:rPr lang="en-US" sz="1250" dirty="0">
                <a:solidFill>
                  <a:srgbClr val="CBD5E1"/>
                </a:solidFill>
              </a:rPr>
              <a:t>César Rojas · Lucas Moncada · Ignacio Silva</a:t>
            </a:r>
            <a:endParaRPr lang="en-US" sz="1250" dirty="0"/>
          </a:p>
        </p:txBody>
      </p:sp>
      <p:sp>
        <p:nvSpPr>
          <p:cNvPr id="9" name="Text 7"/>
          <p:cNvSpPr/>
          <p:nvPr/>
        </p:nvSpPr>
        <p:spPr>
          <a:xfrm>
            <a:off x="8229600" y="1691640"/>
            <a:ext cx="1188720" cy="164592"/>
          </a:xfrm>
          <a:prstGeom prst="rect">
            <a:avLst/>
          </a:prstGeom>
          <a:noFill/>
          <a:ln/>
        </p:spPr>
        <p:txBody>
          <a:bodyPr wrap="square" lIns="0" tIns="0" rIns="0" bIns="0" rtlCol="0" anchor="ctr"/>
          <a:lstStyle/>
          <a:p>
            <a:pPr indent="0" marL="0">
              <a:buNone/>
            </a:pPr>
            <a:r>
              <a:rPr lang="en-US" sz="850" b="1" dirty="0">
                <a:solidFill>
                  <a:srgbClr val="CBD5E1"/>
                </a:solidFill>
              </a:rPr>
              <a:t>CONTEXTO</a:t>
            </a:r>
            <a:endParaRPr lang="en-US" sz="850" dirty="0"/>
          </a:p>
        </p:txBody>
      </p:sp>
      <p:sp>
        <p:nvSpPr>
          <p:cNvPr id="10" name="Shape 8"/>
          <p:cNvSpPr/>
          <p:nvPr/>
        </p:nvSpPr>
        <p:spPr>
          <a:xfrm>
            <a:off x="8686800" y="1965960"/>
            <a:ext cx="0" cy="530352"/>
          </a:xfrm>
          <a:prstGeom prst="line">
            <a:avLst/>
          </a:prstGeom>
          <a:noFill/>
          <a:ln w="25400">
            <a:solidFill>
              <a:srgbClr val="2F6690"/>
            </a:solidFill>
            <a:prstDash val="solid"/>
            <a:tailEnd type="triangle"/>
          </a:ln>
        </p:spPr>
      </p:sp>
      <p:sp>
        <p:nvSpPr>
          <p:cNvPr id="11" name="Text 9"/>
          <p:cNvSpPr/>
          <p:nvPr/>
        </p:nvSpPr>
        <p:spPr>
          <a:xfrm>
            <a:off x="8229600" y="2651760"/>
            <a:ext cx="1188720" cy="164592"/>
          </a:xfrm>
          <a:prstGeom prst="rect">
            <a:avLst/>
          </a:prstGeom>
          <a:noFill/>
          <a:ln/>
        </p:spPr>
        <p:txBody>
          <a:bodyPr wrap="square" lIns="0" tIns="0" rIns="0" bIns="0" rtlCol="0" anchor="ctr"/>
          <a:lstStyle/>
          <a:p>
            <a:pPr indent="0" marL="0">
              <a:buNone/>
            </a:pPr>
            <a:r>
              <a:rPr lang="en-US" sz="850" b="1" dirty="0">
                <a:solidFill>
                  <a:srgbClr val="CBD5E1"/>
                </a:solidFill>
              </a:rPr>
              <a:t>EVIDENCIA</a:t>
            </a:r>
            <a:endParaRPr lang="en-US" sz="850" dirty="0"/>
          </a:p>
        </p:txBody>
      </p:sp>
      <p:sp>
        <p:nvSpPr>
          <p:cNvPr id="12" name="Shape 10"/>
          <p:cNvSpPr/>
          <p:nvPr/>
        </p:nvSpPr>
        <p:spPr>
          <a:xfrm>
            <a:off x="8686800" y="2926080"/>
            <a:ext cx="0" cy="530352"/>
          </a:xfrm>
          <a:prstGeom prst="line">
            <a:avLst/>
          </a:prstGeom>
          <a:noFill/>
          <a:ln w="25400">
            <a:solidFill>
              <a:srgbClr val="D17A22"/>
            </a:solidFill>
            <a:prstDash val="solid"/>
            <a:tailEnd type="triangle"/>
          </a:ln>
        </p:spPr>
      </p:sp>
      <p:sp>
        <p:nvSpPr>
          <p:cNvPr id="13" name="Text 11"/>
          <p:cNvSpPr/>
          <p:nvPr/>
        </p:nvSpPr>
        <p:spPr>
          <a:xfrm>
            <a:off x="8229600" y="3611880"/>
            <a:ext cx="1188720" cy="164592"/>
          </a:xfrm>
          <a:prstGeom prst="rect">
            <a:avLst/>
          </a:prstGeom>
          <a:noFill/>
          <a:ln/>
        </p:spPr>
        <p:txBody>
          <a:bodyPr wrap="square" lIns="0" tIns="0" rIns="0" bIns="0" rtlCol="0" anchor="ctr"/>
          <a:lstStyle/>
          <a:p>
            <a:pPr indent="0" marL="0">
              <a:buNone/>
            </a:pPr>
            <a:r>
              <a:rPr lang="en-US" sz="850" b="1" dirty="0">
                <a:solidFill>
                  <a:srgbClr val="CBD5E1"/>
                </a:solidFill>
              </a:rPr>
              <a:t>DECISIÓN</a:t>
            </a:r>
            <a:endParaRPr lang="en-US" sz="850" dirty="0"/>
          </a:p>
        </p:txBody>
      </p:sp>
      <p:sp>
        <p:nvSpPr>
          <p:cNvPr id="14" name="Text 12"/>
          <p:cNvSpPr/>
          <p:nvPr/>
        </p:nvSpPr>
        <p:spPr>
          <a:xfrm>
            <a:off x="10698480" y="301752"/>
            <a:ext cx="914400" cy="201168"/>
          </a:xfrm>
          <a:prstGeom prst="rect">
            <a:avLst/>
          </a:prstGeom>
          <a:noFill/>
          <a:ln/>
        </p:spPr>
        <p:txBody>
          <a:bodyPr wrap="square" lIns="0" tIns="0" rIns="0" bIns="0" rtlCol="0" anchor="ctr"/>
          <a:lstStyle/>
          <a:p>
            <a:pPr algn="r" indent="0" marL="0">
              <a:buNone/>
            </a:pPr>
            <a:r>
              <a:rPr lang="en-US" sz="1350" b="1" dirty="0">
                <a:solidFill>
                  <a:srgbClr val="FFFFFF"/>
                </a:solidFill>
                <a:latin typeface="Aptos Display" pitchFamily="34" charset="0"/>
                <a:ea typeface="Aptos Display" pitchFamily="34" charset="-122"/>
                <a:cs typeface="Aptos Display" pitchFamily="34" charset="-120"/>
              </a:rPr>
              <a:t>DuocUC</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CONTEXTO ORGANIZACIONAL</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El problema no es la falta de datos</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02 · César</a:t>
            </a:r>
            <a:endParaRPr lang="en-US" sz="750" dirty="0"/>
          </a:p>
        </p:txBody>
      </p:sp>
      <p:sp>
        <p:nvSpPr>
          <p:cNvPr id="9" name="Text 7"/>
          <p:cNvSpPr/>
          <p:nvPr/>
        </p:nvSpPr>
        <p:spPr>
          <a:xfrm>
            <a:off x="658368" y="1417320"/>
            <a:ext cx="5852160" cy="658368"/>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StreamView tiene información suficiente, pero no una lectura ejecutiva única.</a:t>
            </a:r>
            <a:endParaRPr lang="en-US" sz="2400" dirty="0"/>
          </a:p>
        </p:txBody>
      </p:sp>
      <p:sp>
        <p:nvSpPr>
          <p:cNvPr id="10" name="Text 8"/>
          <p:cNvSpPr/>
          <p:nvPr/>
        </p:nvSpPr>
        <p:spPr>
          <a:xfrm>
            <a:off x="676656" y="2423160"/>
            <a:ext cx="5212080" cy="777240"/>
          </a:xfrm>
          <a:prstGeom prst="rect">
            <a:avLst/>
          </a:prstGeom>
          <a:noFill/>
          <a:ln/>
        </p:spPr>
        <p:txBody>
          <a:bodyPr wrap="square" lIns="254" tIns="254" rIns="254" bIns="254" rtlCol="0" anchor="t">
            <a:normAutofit/>
          </a:bodyPr>
          <a:lstStyle/>
          <a:p>
            <a:pPr indent="0" marL="0">
              <a:buNone/>
            </a:pPr>
            <a:r>
              <a:rPr lang="en-US" sz="1360" dirty="0">
                <a:solidFill>
                  <a:srgbClr val="1F2937"/>
                </a:solidFill>
                <a:latin typeface="Aptos" pitchFamily="34" charset="0"/>
                <a:ea typeface="Aptos" pitchFamily="34" charset="-122"/>
                <a:cs typeface="Aptos" pitchFamily="34" charset="-120"/>
              </a:rPr>
              <a:t>Distintas áreas trabajan con reportes construidos bajo criterios diferentes. Eso dificulta consolidar el catálogo, reconocer tendencias y decidir qué adquirir, promocionar o priorizar.</a:t>
            </a:r>
            <a:endParaRPr lang="en-US" sz="1360" dirty="0"/>
          </a:p>
        </p:txBody>
      </p:sp>
      <p:sp>
        <p:nvSpPr>
          <p:cNvPr id="11" name="Shape 9"/>
          <p:cNvSpPr/>
          <p:nvPr/>
        </p:nvSpPr>
        <p:spPr>
          <a:xfrm>
            <a:off x="6400800" y="1417320"/>
            <a:ext cx="0" cy="4206240"/>
          </a:xfrm>
          <a:prstGeom prst="line">
            <a:avLst/>
          </a:prstGeom>
          <a:noFill/>
          <a:ln w="12700">
            <a:solidFill>
              <a:srgbClr val="E2E8F0"/>
            </a:solidFill>
            <a:prstDash val="solid"/>
          </a:ln>
        </p:spPr>
      </p:sp>
      <p:sp>
        <p:nvSpPr>
          <p:cNvPr id="12" name="Shape 10"/>
          <p:cNvSpPr/>
          <p:nvPr/>
        </p:nvSpPr>
        <p:spPr>
          <a:xfrm>
            <a:off x="6903720" y="1572768"/>
            <a:ext cx="457200" cy="0"/>
          </a:xfrm>
          <a:prstGeom prst="line">
            <a:avLst/>
          </a:prstGeom>
          <a:noFill/>
          <a:ln w="30480">
            <a:solidFill>
              <a:srgbClr val="D17A22"/>
            </a:solidFill>
            <a:prstDash val="solid"/>
          </a:ln>
        </p:spPr>
      </p:sp>
      <p:sp>
        <p:nvSpPr>
          <p:cNvPr id="13" name="Text 11"/>
          <p:cNvSpPr/>
          <p:nvPr/>
        </p:nvSpPr>
        <p:spPr>
          <a:xfrm>
            <a:off x="7470648" y="1481328"/>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PREGUNTA GUÍA</a:t>
            </a:r>
            <a:endParaRPr lang="en-US" sz="1100" dirty="0"/>
          </a:p>
        </p:txBody>
      </p:sp>
      <p:sp>
        <p:nvSpPr>
          <p:cNvPr id="14" name="Text 12"/>
          <p:cNvSpPr/>
          <p:nvPr/>
        </p:nvSpPr>
        <p:spPr>
          <a:xfrm>
            <a:off x="6903720" y="2011680"/>
            <a:ext cx="4114800" cy="713232"/>
          </a:xfrm>
          <a:prstGeom prst="rect">
            <a:avLst/>
          </a:prstGeom>
          <a:noFill/>
          <a:ln/>
        </p:spPr>
        <p:txBody>
          <a:bodyPr wrap="square" lIns="254" tIns="254" rIns="254" bIns="254" rtlCol="0" anchor="t">
            <a:normAutofit/>
          </a:bodyPr>
          <a:lstStyle/>
          <a:p>
            <a:pPr indent="0" marL="0">
              <a:buNone/>
            </a:pPr>
            <a:r>
              <a:rPr lang="en-US" sz="1900" b="1" dirty="0">
                <a:solidFill>
                  <a:srgbClr val="0F172A"/>
                </a:solidFill>
                <a:latin typeface="Aptos" pitchFamily="34" charset="0"/>
                <a:ea typeface="Aptos" pitchFamily="34" charset="-122"/>
                <a:cs typeface="Aptos" pitchFamily="34" charset="-120"/>
              </a:rPr>
              <a:t>¿Cómo transformamos un catálogo amplio en evidencia clara para la toma de decisiones?</a:t>
            </a:r>
            <a:endParaRPr lang="en-US" sz="1900" dirty="0"/>
          </a:p>
        </p:txBody>
      </p:sp>
      <p:sp>
        <p:nvSpPr>
          <p:cNvPr id="15" name="Shape 13"/>
          <p:cNvSpPr/>
          <p:nvPr/>
        </p:nvSpPr>
        <p:spPr>
          <a:xfrm>
            <a:off x="6903720" y="3749040"/>
            <a:ext cx="457200" cy="0"/>
          </a:xfrm>
          <a:prstGeom prst="line">
            <a:avLst/>
          </a:prstGeom>
          <a:noFill/>
          <a:ln w="30480">
            <a:solidFill>
              <a:srgbClr val="2A9D8F"/>
            </a:solidFill>
            <a:prstDash val="solid"/>
          </a:ln>
        </p:spPr>
      </p:sp>
      <p:sp>
        <p:nvSpPr>
          <p:cNvPr id="16" name="Text 14"/>
          <p:cNvSpPr/>
          <p:nvPr/>
        </p:nvSpPr>
        <p:spPr>
          <a:xfrm>
            <a:off x="7470648" y="365760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DECISIÓN A APOYAR</a:t>
            </a:r>
            <a:endParaRPr lang="en-US" sz="1100" dirty="0"/>
          </a:p>
        </p:txBody>
      </p:sp>
      <p:sp>
        <p:nvSpPr>
          <p:cNvPr id="17" name="Text 15"/>
          <p:cNvSpPr/>
          <p:nvPr/>
        </p:nvSpPr>
        <p:spPr>
          <a:xfrm>
            <a:off x="6903720" y="4160520"/>
            <a:ext cx="4114800" cy="457200"/>
          </a:xfrm>
          <a:prstGeom prst="rect">
            <a:avLst/>
          </a:prstGeom>
          <a:noFill/>
          <a:ln/>
        </p:spPr>
        <p:txBody>
          <a:bodyPr wrap="square" lIns="254" tIns="254" rIns="254" bIns="254" rtlCol="0" anchor="t">
            <a:normAutofit/>
          </a:bodyPr>
          <a:lstStyle/>
          <a:p>
            <a:pPr indent="0" marL="0">
              <a:buNone/>
            </a:pPr>
            <a:r>
              <a:rPr lang="en-US" sz="1550" b="1" dirty="0">
                <a:solidFill>
                  <a:srgbClr val="2A9D8F"/>
                </a:solidFill>
                <a:latin typeface="Aptos" pitchFamily="34" charset="0"/>
                <a:ea typeface="Aptos" pitchFamily="34" charset="-122"/>
                <a:cs typeface="Aptos" pitchFamily="34" charset="-120"/>
              </a:rPr>
              <a:t>Adquisición · Promoción · Inversión · Priorización de contenidos</a:t>
            </a:r>
            <a:endParaRPr lang="en-US" sz="1550" dirty="0"/>
          </a:p>
        </p:txBody>
      </p:sp>
      <p:sp>
        <p:nvSpPr>
          <p:cNvPr id="18" name="Text 16"/>
          <p:cNvSpPr/>
          <p:nvPr/>
        </p:nvSpPr>
        <p:spPr>
          <a:xfrm>
            <a:off x="512064" y="6473952"/>
            <a:ext cx="8046720" cy="137160"/>
          </a:xfrm>
          <a:prstGeom prst="rect">
            <a:avLst/>
          </a:prstGeom>
          <a:noFill/>
          <a:ln/>
        </p:spPr>
        <p:txBody>
          <a:bodyPr wrap="square" lIns="0" tIns="0" rIns="0" bIns="0" rtlCol="0" anchor="ctr">
            <a:normAutofit/>
          </a:bodyPr>
          <a:lstStyle/>
          <a:p>
            <a:pPr indent="0" marL="0">
              <a:buNone/>
            </a:pPr>
            <a:r>
              <a:rPr lang="en-US" sz="750" dirty="0">
                <a:solidFill>
                  <a:srgbClr val="64748B"/>
                </a:solidFill>
              </a:rPr>
              <a:t>Fuente: Caso Semestral StreamView Analytics y requerimientos de presentación.</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AUDIENCIA Y PROPÓSITO</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Diseñamos para quien debe tomar la decisión</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03 · César</a:t>
            </a:r>
            <a:endParaRPr lang="en-US" sz="750" dirty="0"/>
          </a:p>
        </p:txBody>
      </p:sp>
      <p:sp>
        <p:nvSpPr>
          <p:cNvPr id="9" name="Shape 7"/>
          <p:cNvSpPr/>
          <p:nvPr/>
        </p:nvSpPr>
        <p:spPr>
          <a:xfrm>
            <a:off x="658368" y="1508760"/>
            <a:ext cx="457200" cy="0"/>
          </a:xfrm>
          <a:prstGeom prst="line">
            <a:avLst/>
          </a:prstGeom>
          <a:noFill/>
          <a:ln w="30480">
            <a:solidFill>
              <a:srgbClr val="2F6690"/>
            </a:solidFill>
            <a:prstDash val="solid"/>
          </a:ln>
        </p:spPr>
      </p:sp>
      <p:sp>
        <p:nvSpPr>
          <p:cNvPr id="10" name="Text 8"/>
          <p:cNvSpPr/>
          <p:nvPr/>
        </p:nvSpPr>
        <p:spPr>
          <a:xfrm>
            <a:off x="1225296" y="14173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AUDIENCIA PRINCIPAL</a:t>
            </a:r>
            <a:endParaRPr lang="en-US" sz="1100" dirty="0"/>
          </a:p>
        </p:txBody>
      </p:sp>
      <p:sp>
        <p:nvSpPr>
          <p:cNvPr id="11" name="Text 9"/>
          <p:cNvSpPr/>
          <p:nvPr/>
        </p:nvSpPr>
        <p:spPr>
          <a:xfrm>
            <a:off x="658368" y="1865376"/>
            <a:ext cx="3840480" cy="786384"/>
          </a:xfrm>
          <a:prstGeom prst="rect">
            <a:avLst/>
          </a:prstGeom>
          <a:noFill/>
          <a:ln/>
        </p:spPr>
        <p:txBody>
          <a:bodyPr wrap="square" lIns="127" tIns="127" rIns="127" bIns="127" rtlCol="0" anchor="ctr">
            <a:normAutofit/>
          </a:bodyPr>
          <a:lstStyle/>
          <a:p>
            <a:pPr indent="0" marL="0">
              <a:buNone/>
            </a:pPr>
            <a:r>
              <a:rPr lang="en-US" sz="2800" b="1" dirty="0">
                <a:solidFill>
                  <a:srgbClr val="2F6690"/>
                </a:solidFill>
                <a:latin typeface="Aptos Display" pitchFamily="34" charset="0"/>
                <a:ea typeface="Aptos Display" pitchFamily="34" charset="-122"/>
                <a:cs typeface="Aptos Display" pitchFamily="34" charset="-120"/>
              </a:rPr>
              <a:t>Directorio y</a:t>
            </a:r>
            <a:endParaRPr lang="en-US" sz="2800" dirty="0"/>
          </a:p>
          <a:p>
            <a:pPr indent="0" marL="0">
              <a:buNone/>
            </a:pPr>
            <a:r>
              <a:rPr lang="en-US" sz="2800" b="1" dirty="0">
                <a:solidFill>
                  <a:srgbClr val="2F6690"/>
                </a:solidFill>
                <a:latin typeface="Aptos Display" pitchFamily="34" charset="0"/>
                <a:ea typeface="Aptos Display" pitchFamily="34" charset="-122"/>
                <a:cs typeface="Aptos Display" pitchFamily="34" charset="-120"/>
              </a:rPr>
              <a:t>Gerencia General</a:t>
            </a:r>
            <a:endParaRPr lang="en-US" sz="2800" dirty="0"/>
          </a:p>
        </p:txBody>
      </p:sp>
      <p:sp>
        <p:nvSpPr>
          <p:cNvPr id="12" name="Text 10"/>
          <p:cNvSpPr/>
          <p:nvPr/>
        </p:nvSpPr>
        <p:spPr>
          <a:xfrm>
            <a:off x="685800" y="2971800"/>
            <a:ext cx="4297680" cy="530352"/>
          </a:xfrm>
          <a:prstGeom prst="rect">
            <a:avLst/>
          </a:prstGeom>
          <a:noFill/>
          <a:ln/>
        </p:spPr>
        <p:txBody>
          <a:bodyPr wrap="square" lIns="254" tIns="254" rIns="254" bIns="254" rtlCol="0" anchor="t">
            <a:normAutofit/>
          </a:bodyPr>
          <a:lstStyle/>
          <a:p>
            <a:pPr indent="0" marL="0">
              <a:buNone/>
            </a:pPr>
            <a:r>
              <a:rPr lang="en-US" sz="1380" dirty="0">
                <a:solidFill>
                  <a:srgbClr val="1F2937"/>
                </a:solidFill>
                <a:latin typeface="Aptos" pitchFamily="34" charset="0"/>
                <a:ea typeface="Aptos" pitchFamily="34" charset="-122"/>
                <a:cs typeface="Aptos" pitchFamily="34" charset="-120"/>
              </a:rPr>
              <a:t>Necesitan leer el estado del catálogo rápidamente, sin entrar primero en el detalle técnico.</a:t>
            </a:r>
            <a:endParaRPr lang="en-US" sz="1380" dirty="0"/>
          </a:p>
        </p:txBody>
      </p:sp>
      <p:sp>
        <p:nvSpPr>
          <p:cNvPr id="13" name="Shape 11"/>
          <p:cNvSpPr/>
          <p:nvPr/>
        </p:nvSpPr>
        <p:spPr>
          <a:xfrm>
            <a:off x="5532120" y="1417320"/>
            <a:ext cx="0" cy="4297680"/>
          </a:xfrm>
          <a:prstGeom prst="line">
            <a:avLst/>
          </a:prstGeom>
          <a:noFill/>
          <a:ln w="12700">
            <a:solidFill>
              <a:srgbClr val="E2E8F0"/>
            </a:solidFill>
            <a:prstDash val="solid"/>
          </a:ln>
        </p:spPr>
      </p:sp>
      <p:sp>
        <p:nvSpPr>
          <p:cNvPr id="14" name="Shape 12"/>
          <p:cNvSpPr/>
          <p:nvPr/>
        </p:nvSpPr>
        <p:spPr>
          <a:xfrm>
            <a:off x="5989320" y="1508760"/>
            <a:ext cx="457200" cy="0"/>
          </a:xfrm>
          <a:prstGeom prst="line">
            <a:avLst/>
          </a:prstGeom>
          <a:noFill/>
          <a:ln w="30480">
            <a:solidFill>
              <a:srgbClr val="D17A22"/>
            </a:solidFill>
            <a:prstDash val="solid"/>
          </a:ln>
        </p:spPr>
      </p:sp>
      <p:sp>
        <p:nvSpPr>
          <p:cNvPr id="15" name="Text 13"/>
          <p:cNvSpPr/>
          <p:nvPr/>
        </p:nvSpPr>
        <p:spPr>
          <a:xfrm>
            <a:off x="6556248" y="14173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NECESIDADES DE INFORMACIÓN</a:t>
            </a:r>
            <a:endParaRPr lang="en-US" sz="1100" dirty="0"/>
          </a:p>
        </p:txBody>
      </p:sp>
      <p:sp>
        <p:nvSpPr>
          <p:cNvPr id="16" name="Text 14"/>
          <p:cNvSpPr/>
          <p:nvPr/>
        </p:nvSpPr>
        <p:spPr>
          <a:xfrm>
            <a:off x="5989320" y="1901952"/>
            <a:ext cx="3749040" cy="1097280"/>
          </a:xfrm>
          <a:prstGeom prst="rect">
            <a:avLst/>
          </a:prstGeom>
          <a:noFill/>
          <a:ln/>
        </p:spPr>
        <p:txBody>
          <a:bodyPr wrap="square" lIns="254" tIns="254" rIns="254" bIns="254" rtlCol="0" anchor="t">
            <a:normAutofit/>
          </a:bodyPr>
          <a:lstStyle/>
          <a:p>
            <a:pPr indent="0" marL="0">
              <a:buNone/>
            </a:pPr>
            <a:r>
              <a:rPr lang="en-US" sz="1700" b="1" dirty="0">
                <a:solidFill>
                  <a:srgbClr val="0F172A"/>
                </a:solidFill>
                <a:latin typeface="Aptos" pitchFamily="34" charset="0"/>
                <a:ea typeface="Aptos" pitchFamily="34" charset="-122"/>
                <a:cs typeface="Aptos" pitchFamily="34" charset="-120"/>
              </a:rPr>
              <a:t>KPIs consolidados</a:t>
            </a:r>
            <a:endParaRPr lang="en-US" sz="1700" dirty="0"/>
          </a:p>
          <a:p>
            <a:pPr indent="0" marL="0">
              <a:buNone/>
            </a:pPr>
            <a:r>
              <a:rPr lang="en-US" sz="1700" b="1" dirty="0">
                <a:solidFill>
                  <a:srgbClr val="0F172A"/>
                </a:solidFill>
                <a:latin typeface="Aptos" pitchFamily="34" charset="0"/>
                <a:ea typeface="Aptos" pitchFamily="34" charset="-122"/>
                <a:cs typeface="Aptos" pitchFamily="34" charset="-120"/>
              </a:rPr>
              <a:t>Tendencias</a:t>
            </a:r>
            <a:endParaRPr lang="en-US" sz="1700" dirty="0"/>
          </a:p>
          <a:p>
            <a:pPr indent="0" marL="0">
              <a:buNone/>
            </a:pPr>
            <a:r>
              <a:rPr lang="en-US" sz="1700" b="1" dirty="0">
                <a:solidFill>
                  <a:srgbClr val="0F172A"/>
                </a:solidFill>
                <a:latin typeface="Aptos" pitchFamily="34" charset="0"/>
                <a:ea typeface="Aptos" pitchFamily="34" charset="-122"/>
                <a:cs typeface="Aptos" pitchFamily="34" charset="-120"/>
              </a:rPr>
              <a:t>Comparaciones</a:t>
            </a:r>
            <a:endParaRPr lang="en-US" sz="1700" dirty="0"/>
          </a:p>
          <a:p>
            <a:pPr indent="0" marL="0">
              <a:buNone/>
            </a:pPr>
            <a:r>
              <a:rPr lang="en-US" sz="1700" b="1" dirty="0">
                <a:solidFill>
                  <a:srgbClr val="0F172A"/>
                </a:solidFill>
                <a:latin typeface="Aptos" pitchFamily="34" charset="0"/>
                <a:ea typeface="Aptos" pitchFamily="34" charset="-122"/>
                <a:cs typeface="Aptos" pitchFamily="34" charset="-120"/>
              </a:rPr>
              <a:t>Recomendaciones ejecutivas</a:t>
            </a:r>
            <a:endParaRPr lang="en-US" sz="1700" dirty="0"/>
          </a:p>
        </p:txBody>
      </p:sp>
      <p:sp>
        <p:nvSpPr>
          <p:cNvPr id="17" name="Shape 15"/>
          <p:cNvSpPr/>
          <p:nvPr/>
        </p:nvSpPr>
        <p:spPr>
          <a:xfrm>
            <a:off x="5989320" y="3977640"/>
            <a:ext cx="457200" cy="0"/>
          </a:xfrm>
          <a:prstGeom prst="line">
            <a:avLst/>
          </a:prstGeom>
          <a:noFill/>
          <a:ln w="30480">
            <a:solidFill>
              <a:srgbClr val="2A9D8F"/>
            </a:solidFill>
            <a:prstDash val="solid"/>
          </a:ln>
        </p:spPr>
      </p:sp>
      <p:sp>
        <p:nvSpPr>
          <p:cNvPr id="18" name="Text 16"/>
          <p:cNvSpPr/>
          <p:nvPr/>
        </p:nvSpPr>
        <p:spPr>
          <a:xfrm>
            <a:off x="6556248" y="388620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PROPÓSITO COMUNICACIONAL</a:t>
            </a:r>
            <a:endParaRPr lang="en-US" sz="1100" dirty="0"/>
          </a:p>
        </p:txBody>
      </p:sp>
      <p:sp>
        <p:nvSpPr>
          <p:cNvPr id="19" name="Text 17"/>
          <p:cNvSpPr/>
          <p:nvPr/>
        </p:nvSpPr>
        <p:spPr>
          <a:xfrm>
            <a:off x="5989320" y="4370832"/>
            <a:ext cx="4754880" cy="749808"/>
          </a:xfrm>
          <a:prstGeom prst="rect">
            <a:avLst/>
          </a:prstGeom>
          <a:noFill/>
          <a:ln/>
        </p:spPr>
        <p:txBody>
          <a:bodyPr wrap="square" lIns="254" tIns="254" rIns="254" bIns="254" rtlCol="0" anchor="t">
            <a:normAutofit/>
          </a:bodyPr>
          <a:lstStyle/>
          <a:p>
            <a:pPr indent="0" marL="0">
              <a:buNone/>
            </a:pPr>
            <a:r>
              <a:rPr lang="en-US" sz="1550" b="1" dirty="0">
                <a:solidFill>
                  <a:srgbClr val="2A9D8F"/>
                </a:solidFill>
                <a:latin typeface="Aptos" pitchFamily="34" charset="0"/>
                <a:ea typeface="Aptos" pitchFamily="34" charset="-122"/>
                <a:cs typeface="Aptos" pitchFamily="34" charset="-120"/>
              </a:rPr>
              <a:t>Reducir complejidad y convertir los datos del catálogo en evidencia para decisiones de adquisición, promoción e inversión.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STORYTELLING</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Estrategia: contar una decisión, no una colección de gráficos</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04 · César</a:t>
            </a:r>
            <a:endParaRPr lang="en-US" sz="750" dirty="0"/>
          </a:p>
        </p:txBody>
      </p:sp>
      <p:sp>
        <p:nvSpPr>
          <p:cNvPr id="9" name="Text 7"/>
          <p:cNvSpPr/>
          <p:nvPr/>
        </p:nvSpPr>
        <p:spPr>
          <a:xfrm>
            <a:off x="658368" y="1353312"/>
            <a:ext cx="8138160" cy="502920"/>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Usamos tres actos para que la audiencia avance desde el problema hasta la decisión.</a:t>
            </a:r>
            <a:endParaRPr lang="en-US" sz="2400" dirty="0"/>
          </a:p>
        </p:txBody>
      </p:sp>
      <p:sp>
        <p:nvSpPr>
          <p:cNvPr id="10" name="Shape 8"/>
          <p:cNvSpPr/>
          <p:nvPr/>
        </p:nvSpPr>
        <p:spPr>
          <a:xfrm>
            <a:off x="868680" y="2423160"/>
            <a:ext cx="2194560" cy="0"/>
          </a:xfrm>
          <a:prstGeom prst="line">
            <a:avLst/>
          </a:prstGeom>
          <a:noFill/>
          <a:ln w="38100">
            <a:solidFill>
              <a:srgbClr val="2F6690"/>
            </a:solidFill>
            <a:prstDash val="solid"/>
          </a:ln>
        </p:spPr>
      </p:sp>
      <p:sp>
        <p:nvSpPr>
          <p:cNvPr id="11" name="Text 9"/>
          <p:cNvSpPr/>
          <p:nvPr/>
        </p:nvSpPr>
        <p:spPr>
          <a:xfrm>
            <a:off x="868680" y="2624328"/>
            <a:ext cx="2560320" cy="256032"/>
          </a:xfrm>
          <a:prstGeom prst="rect">
            <a:avLst/>
          </a:prstGeom>
          <a:noFill/>
          <a:ln/>
        </p:spPr>
        <p:txBody>
          <a:bodyPr wrap="square" lIns="0" tIns="0" rIns="0" bIns="0" rtlCol="0" anchor="ctr"/>
          <a:lstStyle/>
          <a:p>
            <a:pPr indent="0" marL="0">
              <a:buNone/>
            </a:pPr>
            <a:r>
              <a:rPr lang="en-US" sz="2000" b="1" dirty="0">
                <a:solidFill>
                  <a:srgbClr val="0F172A"/>
                </a:solidFill>
              </a:rPr>
              <a:t>Contexto</a:t>
            </a:r>
            <a:endParaRPr lang="en-US" sz="2000" dirty="0"/>
          </a:p>
        </p:txBody>
      </p:sp>
      <p:sp>
        <p:nvSpPr>
          <p:cNvPr id="12" name="Text 10"/>
          <p:cNvSpPr/>
          <p:nvPr/>
        </p:nvSpPr>
        <p:spPr>
          <a:xfrm>
            <a:off x="868680" y="2999232"/>
            <a:ext cx="2560320" cy="420624"/>
          </a:xfrm>
          <a:prstGeom prst="rect">
            <a:avLst/>
          </a:prstGeom>
          <a:noFill/>
          <a:ln/>
        </p:spPr>
        <p:txBody>
          <a:bodyPr wrap="square" lIns="254" tIns="254" rIns="254" bIns="254" rtlCol="0" anchor="t">
            <a:normAutofit/>
          </a:bodyPr>
          <a:lstStyle/>
          <a:p>
            <a:pPr indent="0" marL="0">
              <a:buNone/>
            </a:pPr>
            <a:r>
              <a:rPr lang="en-US" sz="1260" dirty="0">
                <a:solidFill>
                  <a:srgbClr val="64748B"/>
                </a:solidFill>
                <a:latin typeface="Aptos" pitchFamily="34" charset="0"/>
                <a:ea typeface="Aptos" pitchFamily="34" charset="-122"/>
                <a:cs typeface="Aptos" pitchFamily="34" charset="-120"/>
              </a:rPr>
              <a:t>¿Cuál es el problema y para quién?</a:t>
            </a:r>
            <a:endParaRPr lang="en-US" sz="1260" dirty="0"/>
          </a:p>
        </p:txBody>
      </p:sp>
      <p:sp>
        <p:nvSpPr>
          <p:cNvPr id="13" name="Shape 11"/>
          <p:cNvSpPr/>
          <p:nvPr/>
        </p:nvSpPr>
        <p:spPr>
          <a:xfrm>
            <a:off x="3410712" y="2743200"/>
            <a:ext cx="685800" cy="0"/>
          </a:xfrm>
          <a:prstGeom prst="line">
            <a:avLst/>
          </a:prstGeom>
          <a:noFill/>
          <a:ln w="16510">
            <a:solidFill>
              <a:srgbClr val="CBD5E1"/>
            </a:solidFill>
            <a:prstDash val="solid"/>
            <a:tailEnd type="triangle"/>
          </a:ln>
        </p:spPr>
      </p:sp>
      <p:sp>
        <p:nvSpPr>
          <p:cNvPr id="14" name="Shape 12"/>
          <p:cNvSpPr/>
          <p:nvPr/>
        </p:nvSpPr>
        <p:spPr>
          <a:xfrm>
            <a:off x="4480560" y="2423160"/>
            <a:ext cx="2194560" cy="0"/>
          </a:xfrm>
          <a:prstGeom prst="line">
            <a:avLst/>
          </a:prstGeom>
          <a:noFill/>
          <a:ln w="38100">
            <a:solidFill>
              <a:srgbClr val="D17A22"/>
            </a:solidFill>
            <a:prstDash val="solid"/>
          </a:ln>
        </p:spPr>
      </p:sp>
      <p:sp>
        <p:nvSpPr>
          <p:cNvPr id="15" name="Text 13"/>
          <p:cNvSpPr/>
          <p:nvPr/>
        </p:nvSpPr>
        <p:spPr>
          <a:xfrm>
            <a:off x="4480560" y="2624328"/>
            <a:ext cx="2560320" cy="256032"/>
          </a:xfrm>
          <a:prstGeom prst="rect">
            <a:avLst/>
          </a:prstGeom>
          <a:noFill/>
          <a:ln/>
        </p:spPr>
        <p:txBody>
          <a:bodyPr wrap="square" lIns="0" tIns="0" rIns="0" bIns="0" rtlCol="0" anchor="ctr"/>
          <a:lstStyle/>
          <a:p>
            <a:pPr indent="0" marL="0">
              <a:buNone/>
            </a:pPr>
            <a:r>
              <a:rPr lang="en-US" sz="2000" b="1" dirty="0">
                <a:solidFill>
                  <a:srgbClr val="0F172A"/>
                </a:solidFill>
              </a:rPr>
              <a:t>Evidencia</a:t>
            </a:r>
            <a:endParaRPr lang="en-US" sz="2000" dirty="0"/>
          </a:p>
        </p:txBody>
      </p:sp>
      <p:sp>
        <p:nvSpPr>
          <p:cNvPr id="16" name="Text 14"/>
          <p:cNvSpPr/>
          <p:nvPr/>
        </p:nvSpPr>
        <p:spPr>
          <a:xfrm>
            <a:off x="4480560" y="2999232"/>
            <a:ext cx="2560320" cy="420624"/>
          </a:xfrm>
          <a:prstGeom prst="rect">
            <a:avLst/>
          </a:prstGeom>
          <a:noFill/>
          <a:ln/>
        </p:spPr>
        <p:txBody>
          <a:bodyPr wrap="square" lIns="254" tIns="254" rIns="254" bIns="254" rtlCol="0" anchor="t">
            <a:normAutofit/>
          </a:bodyPr>
          <a:lstStyle/>
          <a:p>
            <a:pPr indent="0" marL="0">
              <a:buNone/>
            </a:pPr>
            <a:r>
              <a:rPr lang="en-US" sz="1260" dirty="0">
                <a:solidFill>
                  <a:srgbClr val="64748B"/>
                </a:solidFill>
                <a:latin typeface="Aptos" pitchFamily="34" charset="0"/>
                <a:ea typeface="Aptos" pitchFamily="34" charset="-122"/>
                <a:cs typeface="Aptos" pitchFamily="34" charset="-120"/>
              </a:rPr>
              <a:t>¿Qué revelan los datos?</a:t>
            </a:r>
            <a:endParaRPr lang="en-US" sz="1260" dirty="0"/>
          </a:p>
        </p:txBody>
      </p:sp>
      <p:sp>
        <p:nvSpPr>
          <p:cNvPr id="17" name="Shape 15"/>
          <p:cNvSpPr/>
          <p:nvPr/>
        </p:nvSpPr>
        <p:spPr>
          <a:xfrm>
            <a:off x="7022592" y="2743200"/>
            <a:ext cx="685800" cy="0"/>
          </a:xfrm>
          <a:prstGeom prst="line">
            <a:avLst/>
          </a:prstGeom>
          <a:noFill/>
          <a:ln w="16510">
            <a:solidFill>
              <a:srgbClr val="CBD5E1"/>
            </a:solidFill>
            <a:prstDash val="solid"/>
            <a:tailEnd type="triangle"/>
          </a:ln>
        </p:spPr>
      </p:sp>
      <p:sp>
        <p:nvSpPr>
          <p:cNvPr id="18" name="Shape 16"/>
          <p:cNvSpPr/>
          <p:nvPr/>
        </p:nvSpPr>
        <p:spPr>
          <a:xfrm>
            <a:off x="8092440" y="2423160"/>
            <a:ext cx="2194560" cy="0"/>
          </a:xfrm>
          <a:prstGeom prst="line">
            <a:avLst/>
          </a:prstGeom>
          <a:noFill/>
          <a:ln w="38100">
            <a:solidFill>
              <a:srgbClr val="2A9D8F"/>
            </a:solidFill>
            <a:prstDash val="solid"/>
          </a:ln>
        </p:spPr>
      </p:sp>
      <p:sp>
        <p:nvSpPr>
          <p:cNvPr id="19" name="Text 17"/>
          <p:cNvSpPr/>
          <p:nvPr/>
        </p:nvSpPr>
        <p:spPr>
          <a:xfrm>
            <a:off x="8092440" y="2624328"/>
            <a:ext cx="2560320" cy="256032"/>
          </a:xfrm>
          <a:prstGeom prst="rect">
            <a:avLst/>
          </a:prstGeom>
          <a:noFill/>
          <a:ln/>
        </p:spPr>
        <p:txBody>
          <a:bodyPr wrap="square" lIns="0" tIns="0" rIns="0" bIns="0" rtlCol="0" anchor="ctr"/>
          <a:lstStyle/>
          <a:p>
            <a:pPr indent="0" marL="0">
              <a:buNone/>
            </a:pPr>
            <a:r>
              <a:rPr lang="en-US" sz="2000" b="1" dirty="0">
                <a:solidFill>
                  <a:srgbClr val="0F172A"/>
                </a:solidFill>
              </a:rPr>
              <a:t>Decisión</a:t>
            </a:r>
            <a:endParaRPr lang="en-US" sz="2000" dirty="0"/>
          </a:p>
        </p:txBody>
      </p:sp>
      <p:sp>
        <p:nvSpPr>
          <p:cNvPr id="20" name="Text 18"/>
          <p:cNvSpPr/>
          <p:nvPr/>
        </p:nvSpPr>
        <p:spPr>
          <a:xfrm>
            <a:off x="8092440" y="2999232"/>
            <a:ext cx="2560320" cy="420624"/>
          </a:xfrm>
          <a:prstGeom prst="rect">
            <a:avLst/>
          </a:prstGeom>
          <a:noFill/>
          <a:ln/>
        </p:spPr>
        <p:txBody>
          <a:bodyPr wrap="square" lIns="254" tIns="254" rIns="254" bIns="254" rtlCol="0" anchor="t">
            <a:normAutofit/>
          </a:bodyPr>
          <a:lstStyle/>
          <a:p>
            <a:pPr indent="0" marL="0">
              <a:buNone/>
            </a:pPr>
            <a:r>
              <a:rPr lang="en-US" sz="1260" dirty="0">
                <a:solidFill>
                  <a:srgbClr val="64748B"/>
                </a:solidFill>
                <a:latin typeface="Aptos" pitchFamily="34" charset="0"/>
                <a:ea typeface="Aptos" pitchFamily="34" charset="-122"/>
                <a:cs typeface="Aptos" pitchFamily="34" charset="-120"/>
              </a:rPr>
              <a:t>¿Qué debería hacer StreamView?</a:t>
            </a:r>
            <a:endParaRPr lang="en-US" sz="1260" dirty="0"/>
          </a:p>
        </p:txBody>
      </p:sp>
      <p:sp>
        <p:nvSpPr>
          <p:cNvPr id="21" name="Shape 19"/>
          <p:cNvSpPr/>
          <p:nvPr/>
        </p:nvSpPr>
        <p:spPr>
          <a:xfrm>
            <a:off x="822960" y="4160520"/>
            <a:ext cx="9921240" cy="0"/>
          </a:xfrm>
          <a:prstGeom prst="line">
            <a:avLst/>
          </a:prstGeom>
          <a:noFill/>
          <a:ln w="12700">
            <a:solidFill>
              <a:srgbClr val="E2E8F0"/>
            </a:solidFill>
            <a:prstDash val="solid"/>
          </a:ln>
        </p:spPr>
      </p:sp>
      <p:sp>
        <p:nvSpPr>
          <p:cNvPr id="22" name="Shape 20"/>
          <p:cNvSpPr/>
          <p:nvPr/>
        </p:nvSpPr>
        <p:spPr>
          <a:xfrm>
            <a:off x="841248" y="4709160"/>
            <a:ext cx="457200" cy="0"/>
          </a:xfrm>
          <a:prstGeom prst="line">
            <a:avLst/>
          </a:prstGeom>
          <a:noFill/>
          <a:ln w="30480">
            <a:solidFill>
              <a:srgbClr val="B4554C"/>
            </a:solidFill>
            <a:prstDash val="solid"/>
          </a:ln>
        </p:spPr>
      </p:sp>
      <p:sp>
        <p:nvSpPr>
          <p:cNvPr id="23" name="Text 21"/>
          <p:cNvSpPr/>
          <p:nvPr/>
        </p:nvSpPr>
        <p:spPr>
          <a:xfrm>
            <a:off x="1408176" y="46177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CADA HALLAZGO RESPONDE</a:t>
            </a:r>
            <a:endParaRPr lang="en-US" sz="1100" dirty="0"/>
          </a:p>
        </p:txBody>
      </p:sp>
      <p:sp>
        <p:nvSpPr>
          <p:cNvPr id="24" name="Text 22"/>
          <p:cNvSpPr/>
          <p:nvPr/>
        </p:nvSpPr>
        <p:spPr>
          <a:xfrm>
            <a:off x="841248" y="5074920"/>
            <a:ext cx="6949440" cy="393192"/>
          </a:xfrm>
          <a:prstGeom prst="rect">
            <a:avLst/>
          </a:prstGeom>
          <a:noFill/>
          <a:ln/>
        </p:spPr>
        <p:txBody>
          <a:bodyPr wrap="square" lIns="254" tIns="254" rIns="254" bIns="254" rtlCol="0" anchor="t">
            <a:normAutofit/>
          </a:bodyPr>
          <a:lstStyle/>
          <a:p>
            <a:pPr indent="0" marL="0">
              <a:buNone/>
            </a:pPr>
            <a:r>
              <a:rPr lang="en-US" sz="2200" b="1" dirty="0">
                <a:solidFill>
                  <a:srgbClr val="0F172A"/>
                </a:solidFill>
                <a:latin typeface="Aptos" pitchFamily="34" charset="0"/>
                <a:ea typeface="Aptos" pitchFamily="34" charset="-122"/>
                <a:cs typeface="Aptos" pitchFamily="34" charset="-120"/>
              </a:rPr>
              <a:t>Situación → Hallazgo → Implicancia → Acción</a:t>
            </a:r>
            <a:endParaRPr lang="en-US" sz="2200" dirty="0"/>
          </a:p>
        </p:txBody>
      </p:sp>
      <p:sp>
        <p:nvSpPr>
          <p:cNvPr id="25" name="Text 23"/>
          <p:cNvSpPr/>
          <p:nvPr/>
        </p:nvSpPr>
        <p:spPr>
          <a:xfrm>
            <a:off x="868680" y="5632704"/>
            <a:ext cx="8595360" cy="347472"/>
          </a:xfrm>
          <a:prstGeom prst="rect">
            <a:avLst/>
          </a:prstGeom>
          <a:noFill/>
          <a:ln/>
        </p:spPr>
        <p:txBody>
          <a:bodyPr wrap="square" lIns="254" tIns="254" rIns="254" bIns="254" rtlCol="0" anchor="t">
            <a:normAutofit/>
          </a:bodyPr>
          <a:lstStyle/>
          <a:p>
            <a:pPr indent="0" marL="0">
              <a:buNone/>
            </a:pPr>
            <a:r>
              <a:rPr lang="en-US" sz="1350" dirty="0">
                <a:solidFill>
                  <a:srgbClr val="64748B"/>
                </a:solidFill>
                <a:latin typeface="Aptos" pitchFamily="34" charset="0"/>
                <a:ea typeface="Aptos" pitchFamily="34" charset="-122"/>
                <a:cs typeface="Aptos" pitchFamily="34" charset="-120"/>
              </a:rPr>
              <a:t>Así los gráficos no quedan aislados: cada uno explica algo y conduce al siguiente punto.</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FUENTES E INTEGRACIÓN</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Antes de visualizar, validamos y preparamos los datos</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05 · César</a:t>
            </a:r>
            <a:endParaRPr lang="en-US" sz="750" dirty="0"/>
          </a:p>
        </p:txBody>
      </p:sp>
      <p:sp>
        <p:nvSpPr>
          <p:cNvPr id="9" name="Text 7"/>
          <p:cNvSpPr/>
          <p:nvPr/>
        </p:nvSpPr>
        <p:spPr>
          <a:xfrm>
            <a:off x="658368" y="1417320"/>
            <a:ext cx="2286000" cy="347472"/>
          </a:xfrm>
          <a:prstGeom prst="rect">
            <a:avLst/>
          </a:prstGeom>
          <a:noFill/>
          <a:ln/>
        </p:spPr>
        <p:txBody>
          <a:bodyPr wrap="square" lIns="0" tIns="0" rIns="0" bIns="0" rtlCol="0" anchor="ctr">
            <a:normAutofit/>
          </a:bodyPr>
          <a:lstStyle/>
          <a:p>
            <a:pPr indent="0" marL="0">
              <a:buNone/>
            </a:pPr>
            <a:r>
              <a:rPr lang="en-US" sz="2200" b="1" dirty="0">
                <a:solidFill>
                  <a:srgbClr val="2F6690"/>
                </a:solidFill>
                <a:latin typeface="Aptos Display" pitchFamily="34" charset="0"/>
                <a:ea typeface="Aptos Display" pitchFamily="34" charset="-122"/>
                <a:cs typeface="Aptos Display" pitchFamily="34" charset="-120"/>
              </a:rPr>
              <a:t>16.000</a:t>
            </a:r>
            <a:endParaRPr lang="en-US" sz="2200" dirty="0"/>
          </a:p>
        </p:txBody>
      </p:sp>
      <p:sp>
        <p:nvSpPr>
          <p:cNvPr id="10" name="Text 8"/>
          <p:cNvSpPr/>
          <p:nvPr/>
        </p:nvSpPr>
        <p:spPr>
          <a:xfrm>
            <a:off x="658368" y="1828800"/>
            <a:ext cx="228600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Movies · 18 variables</a:t>
            </a:r>
            <a:endParaRPr lang="en-US" sz="1060" dirty="0"/>
          </a:p>
        </p:txBody>
      </p:sp>
      <p:sp>
        <p:nvSpPr>
          <p:cNvPr id="11" name="Shape 9"/>
          <p:cNvSpPr/>
          <p:nvPr/>
        </p:nvSpPr>
        <p:spPr>
          <a:xfrm>
            <a:off x="658368" y="2267712"/>
            <a:ext cx="1714500" cy="0"/>
          </a:xfrm>
          <a:prstGeom prst="line">
            <a:avLst/>
          </a:prstGeom>
          <a:noFill/>
          <a:ln w="17780">
            <a:solidFill>
              <a:srgbClr val="2F6690"/>
            </a:solidFill>
            <a:prstDash val="solid"/>
          </a:ln>
        </p:spPr>
      </p:sp>
      <p:sp>
        <p:nvSpPr>
          <p:cNvPr id="12" name="Text 10"/>
          <p:cNvSpPr/>
          <p:nvPr/>
        </p:nvSpPr>
        <p:spPr>
          <a:xfrm>
            <a:off x="3520440" y="1417320"/>
            <a:ext cx="2377440" cy="347472"/>
          </a:xfrm>
          <a:prstGeom prst="rect">
            <a:avLst/>
          </a:prstGeom>
          <a:noFill/>
          <a:ln/>
        </p:spPr>
        <p:txBody>
          <a:bodyPr wrap="square" lIns="0" tIns="0" rIns="0" bIns="0" rtlCol="0" anchor="ctr">
            <a:normAutofit/>
          </a:bodyPr>
          <a:lstStyle/>
          <a:p>
            <a:pPr indent="0" marL="0">
              <a:buNone/>
            </a:pPr>
            <a:r>
              <a:rPr lang="en-US" sz="2200" b="1" dirty="0">
                <a:solidFill>
                  <a:srgbClr val="D17A22"/>
                </a:solidFill>
                <a:latin typeface="Aptos Display" pitchFamily="34" charset="0"/>
                <a:ea typeface="Aptos Display" pitchFamily="34" charset="-122"/>
                <a:cs typeface="Aptos Display" pitchFamily="34" charset="-120"/>
              </a:rPr>
              <a:t>16.000</a:t>
            </a:r>
            <a:endParaRPr lang="en-US" sz="2200" dirty="0"/>
          </a:p>
        </p:txBody>
      </p:sp>
      <p:sp>
        <p:nvSpPr>
          <p:cNvPr id="13" name="Text 11"/>
          <p:cNvSpPr/>
          <p:nvPr/>
        </p:nvSpPr>
        <p:spPr>
          <a:xfrm>
            <a:off x="3520440" y="1828800"/>
            <a:ext cx="237744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TV Shows · 16 variables</a:t>
            </a:r>
            <a:endParaRPr lang="en-US" sz="1060" dirty="0"/>
          </a:p>
        </p:txBody>
      </p:sp>
      <p:sp>
        <p:nvSpPr>
          <p:cNvPr id="14" name="Shape 12"/>
          <p:cNvSpPr/>
          <p:nvPr/>
        </p:nvSpPr>
        <p:spPr>
          <a:xfrm>
            <a:off x="3520440" y="2267712"/>
            <a:ext cx="1783080" cy="0"/>
          </a:xfrm>
          <a:prstGeom prst="line">
            <a:avLst/>
          </a:prstGeom>
          <a:noFill/>
          <a:ln w="17780">
            <a:solidFill>
              <a:srgbClr val="D17A22"/>
            </a:solidFill>
            <a:prstDash val="solid"/>
          </a:ln>
        </p:spPr>
      </p:sp>
      <p:sp>
        <p:nvSpPr>
          <p:cNvPr id="15" name="Text 13"/>
          <p:cNvSpPr/>
          <p:nvPr/>
        </p:nvSpPr>
        <p:spPr>
          <a:xfrm>
            <a:off x="6446520" y="1417320"/>
            <a:ext cx="2743200" cy="347472"/>
          </a:xfrm>
          <a:prstGeom prst="rect">
            <a:avLst/>
          </a:prstGeom>
          <a:noFill/>
          <a:ln/>
        </p:spPr>
        <p:txBody>
          <a:bodyPr wrap="square" lIns="0" tIns="0" rIns="0" bIns="0" rtlCol="0" anchor="ctr">
            <a:normAutofit/>
          </a:bodyPr>
          <a:lstStyle/>
          <a:p>
            <a:pPr indent="0" marL="0">
              <a:buNone/>
            </a:pPr>
            <a:r>
              <a:rPr lang="en-US" sz="2200" b="1" dirty="0">
                <a:solidFill>
                  <a:srgbClr val="2A9D8F"/>
                </a:solidFill>
                <a:latin typeface="Aptos Display" pitchFamily="34" charset="0"/>
                <a:ea typeface="Aptos Display" pitchFamily="34" charset="-122"/>
                <a:cs typeface="Aptos Display" pitchFamily="34" charset="-120"/>
              </a:rPr>
              <a:t>31.991</a:t>
            </a:r>
            <a:endParaRPr lang="en-US" sz="2200" dirty="0"/>
          </a:p>
        </p:txBody>
      </p:sp>
      <p:sp>
        <p:nvSpPr>
          <p:cNvPr id="16" name="Text 14"/>
          <p:cNvSpPr/>
          <p:nvPr/>
        </p:nvSpPr>
        <p:spPr>
          <a:xfrm>
            <a:off x="6446520" y="1828800"/>
            <a:ext cx="274320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contenidos únicos consolidados</a:t>
            </a:r>
            <a:endParaRPr lang="en-US" sz="1060" dirty="0"/>
          </a:p>
        </p:txBody>
      </p:sp>
      <p:sp>
        <p:nvSpPr>
          <p:cNvPr id="17" name="Shape 15"/>
          <p:cNvSpPr/>
          <p:nvPr/>
        </p:nvSpPr>
        <p:spPr>
          <a:xfrm>
            <a:off x="6446520" y="2267712"/>
            <a:ext cx="2057400" cy="0"/>
          </a:xfrm>
          <a:prstGeom prst="line">
            <a:avLst/>
          </a:prstGeom>
          <a:noFill/>
          <a:ln w="17780">
            <a:solidFill>
              <a:srgbClr val="2A9D8F"/>
            </a:solidFill>
            <a:prstDash val="solid"/>
          </a:ln>
        </p:spPr>
      </p:sp>
      <p:sp>
        <p:nvSpPr>
          <p:cNvPr id="18" name="Text 16"/>
          <p:cNvSpPr/>
          <p:nvPr/>
        </p:nvSpPr>
        <p:spPr>
          <a:xfrm>
            <a:off x="685800" y="3337560"/>
            <a:ext cx="822960" cy="228600"/>
          </a:xfrm>
          <a:prstGeom prst="rect">
            <a:avLst/>
          </a:prstGeom>
          <a:noFill/>
          <a:ln/>
        </p:spPr>
        <p:txBody>
          <a:bodyPr wrap="square" lIns="0" tIns="0" rIns="0" bIns="0" rtlCol="0" anchor="ctr"/>
          <a:lstStyle/>
          <a:p>
            <a:pPr indent="0" marL="0">
              <a:buNone/>
            </a:pPr>
            <a:r>
              <a:rPr lang="en-US" sz="1300" b="1" dirty="0">
                <a:solidFill>
                  <a:srgbClr val="2F6690"/>
                </a:solidFill>
              </a:rPr>
              <a:t>RAW</a:t>
            </a:r>
            <a:endParaRPr lang="en-US" sz="1300" dirty="0"/>
          </a:p>
        </p:txBody>
      </p:sp>
      <p:sp>
        <p:nvSpPr>
          <p:cNvPr id="19" name="Shape 17"/>
          <p:cNvSpPr/>
          <p:nvPr/>
        </p:nvSpPr>
        <p:spPr>
          <a:xfrm>
            <a:off x="1417320" y="3456432"/>
            <a:ext cx="914400" cy="0"/>
          </a:xfrm>
          <a:prstGeom prst="line">
            <a:avLst/>
          </a:prstGeom>
          <a:noFill/>
          <a:ln w="15240">
            <a:solidFill>
              <a:srgbClr val="CBD5E1"/>
            </a:solidFill>
            <a:prstDash val="solid"/>
            <a:tailEnd type="triangle"/>
          </a:ln>
        </p:spPr>
      </p:sp>
      <p:sp>
        <p:nvSpPr>
          <p:cNvPr id="20" name="Text 18"/>
          <p:cNvSpPr/>
          <p:nvPr/>
        </p:nvSpPr>
        <p:spPr>
          <a:xfrm>
            <a:off x="2514600" y="3337560"/>
            <a:ext cx="914400" cy="228600"/>
          </a:xfrm>
          <a:prstGeom prst="rect">
            <a:avLst/>
          </a:prstGeom>
          <a:noFill/>
          <a:ln/>
        </p:spPr>
        <p:txBody>
          <a:bodyPr wrap="square" lIns="0" tIns="0" rIns="0" bIns="0" rtlCol="0" anchor="ctr"/>
          <a:lstStyle/>
          <a:p>
            <a:pPr indent="0" marL="0">
              <a:buNone/>
            </a:pPr>
            <a:r>
              <a:rPr lang="en-US" sz="1300" b="1" dirty="0">
                <a:solidFill>
                  <a:srgbClr val="D17A22"/>
                </a:solidFill>
              </a:rPr>
              <a:t>Calidad</a:t>
            </a:r>
            <a:endParaRPr lang="en-US" sz="1300" dirty="0"/>
          </a:p>
        </p:txBody>
      </p:sp>
      <p:sp>
        <p:nvSpPr>
          <p:cNvPr id="21" name="Shape 19"/>
          <p:cNvSpPr/>
          <p:nvPr/>
        </p:nvSpPr>
        <p:spPr>
          <a:xfrm>
            <a:off x="3401568" y="3456432"/>
            <a:ext cx="914400" cy="0"/>
          </a:xfrm>
          <a:prstGeom prst="line">
            <a:avLst/>
          </a:prstGeom>
          <a:noFill/>
          <a:ln w="15240">
            <a:solidFill>
              <a:srgbClr val="CBD5E1"/>
            </a:solidFill>
            <a:prstDash val="solid"/>
            <a:tailEnd type="triangle"/>
          </a:ln>
        </p:spPr>
      </p:sp>
      <p:sp>
        <p:nvSpPr>
          <p:cNvPr id="22" name="Text 20"/>
          <p:cNvSpPr/>
          <p:nvPr/>
        </p:nvSpPr>
        <p:spPr>
          <a:xfrm>
            <a:off x="4498848" y="3337560"/>
            <a:ext cx="1554480" cy="228600"/>
          </a:xfrm>
          <a:prstGeom prst="rect">
            <a:avLst/>
          </a:prstGeom>
          <a:noFill/>
          <a:ln/>
        </p:spPr>
        <p:txBody>
          <a:bodyPr wrap="square" lIns="0" tIns="0" rIns="0" bIns="0" rtlCol="0" anchor="ctr"/>
          <a:lstStyle/>
          <a:p>
            <a:pPr indent="0" marL="0">
              <a:buNone/>
            </a:pPr>
            <a:r>
              <a:rPr lang="en-US" sz="1300" b="1" dirty="0">
                <a:solidFill>
                  <a:srgbClr val="2A9D8F"/>
                </a:solidFill>
              </a:rPr>
              <a:t>Vistas analíticas</a:t>
            </a:r>
            <a:endParaRPr lang="en-US" sz="1300" dirty="0"/>
          </a:p>
        </p:txBody>
      </p:sp>
      <p:sp>
        <p:nvSpPr>
          <p:cNvPr id="23" name="Shape 21"/>
          <p:cNvSpPr/>
          <p:nvPr/>
        </p:nvSpPr>
        <p:spPr>
          <a:xfrm>
            <a:off x="6035040" y="3456432"/>
            <a:ext cx="914400" cy="0"/>
          </a:xfrm>
          <a:prstGeom prst="line">
            <a:avLst/>
          </a:prstGeom>
          <a:noFill/>
          <a:ln w="15240">
            <a:solidFill>
              <a:srgbClr val="CBD5E1"/>
            </a:solidFill>
            <a:prstDash val="solid"/>
            <a:tailEnd type="triangle"/>
          </a:ln>
        </p:spPr>
      </p:sp>
      <p:sp>
        <p:nvSpPr>
          <p:cNvPr id="24" name="Text 22"/>
          <p:cNvSpPr/>
          <p:nvPr/>
        </p:nvSpPr>
        <p:spPr>
          <a:xfrm>
            <a:off x="7150608" y="3337560"/>
            <a:ext cx="1554480" cy="228600"/>
          </a:xfrm>
          <a:prstGeom prst="rect">
            <a:avLst/>
          </a:prstGeom>
          <a:noFill/>
          <a:ln/>
        </p:spPr>
        <p:txBody>
          <a:bodyPr wrap="square" lIns="0" tIns="0" rIns="0" bIns="0" rtlCol="0" anchor="ctr"/>
          <a:lstStyle/>
          <a:p>
            <a:pPr indent="0" marL="0">
              <a:buNone/>
            </a:pPr>
            <a:r>
              <a:rPr lang="en-US" sz="1300" b="1" dirty="0">
                <a:solidFill>
                  <a:srgbClr val="B4554C"/>
                </a:solidFill>
              </a:rPr>
              <a:t>Gráficos y KPIs</a:t>
            </a:r>
            <a:endParaRPr lang="en-US" sz="1300" dirty="0"/>
          </a:p>
        </p:txBody>
      </p:sp>
      <p:sp>
        <p:nvSpPr>
          <p:cNvPr id="25" name="Text 23"/>
          <p:cNvSpPr/>
          <p:nvPr/>
        </p:nvSpPr>
        <p:spPr>
          <a:xfrm>
            <a:off x="685800" y="4023360"/>
            <a:ext cx="5394960" cy="594360"/>
          </a:xfrm>
          <a:prstGeom prst="rect">
            <a:avLst/>
          </a:prstGeom>
          <a:noFill/>
          <a:ln/>
        </p:spPr>
        <p:txBody>
          <a:bodyPr wrap="square" lIns="254" tIns="254" rIns="254" bIns="254" rtlCol="0" anchor="t">
            <a:normAutofit/>
          </a:bodyPr>
          <a:lstStyle/>
          <a:p>
            <a:pPr indent="0" marL="0">
              <a:buNone/>
            </a:pPr>
            <a:r>
              <a:rPr lang="en-US" sz="1340" dirty="0">
                <a:solidFill>
                  <a:srgbClr val="1F2937"/>
                </a:solidFill>
                <a:latin typeface="Aptos" pitchFamily="34" charset="0"/>
                <a:ea typeface="Aptos" pitchFamily="34" charset="-122"/>
                <a:cs typeface="Aptos" pitchFamily="34" charset="-120"/>
              </a:rPr>
              <a:t>Revisamos nulos, duplicados, tipos, fechas, campos multivalor, outliers y reglas de negocio. Los CSV originales se mantienen intactos.</a:t>
            </a:r>
            <a:endParaRPr lang="en-US" sz="1340" dirty="0"/>
          </a:p>
        </p:txBody>
      </p:sp>
      <p:sp>
        <p:nvSpPr>
          <p:cNvPr id="26" name="Text 24"/>
          <p:cNvSpPr/>
          <p:nvPr/>
        </p:nvSpPr>
        <p:spPr>
          <a:xfrm>
            <a:off x="6537960" y="4023360"/>
            <a:ext cx="4434840" cy="594360"/>
          </a:xfrm>
          <a:prstGeom prst="rect">
            <a:avLst/>
          </a:prstGeom>
          <a:noFill/>
          <a:ln/>
        </p:spPr>
        <p:txBody>
          <a:bodyPr wrap="square" lIns="254" tIns="254" rIns="254" bIns="254" rtlCol="0" anchor="t">
            <a:normAutofit/>
          </a:bodyPr>
          <a:lstStyle/>
          <a:p>
            <a:pPr indent="0" marL="0">
              <a:buNone/>
            </a:pPr>
            <a:r>
              <a:rPr lang="en-US" sz="1420" b="1" dirty="0">
                <a:solidFill>
                  <a:srgbClr val="B4554C"/>
                </a:solidFill>
                <a:latin typeface="Aptos" pitchFamily="34" charset="0"/>
                <a:ea typeface="Aptos" pitchFamily="34" charset="-122"/>
                <a:cs typeface="Aptos" pitchFamily="34" charset="-120"/>
              </a:rPr>
              <a:t>Decisión crítica: rating no se usa como clasificación etaria, porque en los datos replica vote_average.</a:t>
            </a:r>
            <a:endParaRPr lang="en-US" sz="1420" dirty="0"/>
          </a:p>
        </p:txBody>
      </p:sp>
      <p:sp>
        <p:nvSpPr>
          <p:cNvPr id="27" name="Text 25"/>
          <p:cNvSpPr/>
          <p:nvPr/>
        </p:nvSpPr>
        <p:spPr>
          <a:xfrm>
            <a:off x="6537960" y="4828032"/>
            <a:ext cx="4343400" cy="310896"/>
          </a:xfrm>
          <a:prstGeom prst="rect">
            <a:avLst/>
          </a:prstGeom>
          <a:noFill/>
          <a:ln/>
        </p:spPr>
        <p:txBody>
          <a:bodyPr wrap="square" lIns="254" tIns="254" rIns="254" bIns="254" rtlCol="0" anchor="t">
            <a:normAutofit/>
          </a:bodyPr>
          <a:lstStyle/>
          <a:p>
            <a:pPr indent="0" marL="0">
              <a:buNone/>
            </a:pPr>
            <a:r>
              <a:rPr lang="en-US" sz="1260" dirty="0">
                <a:solidFill>
                  <a:srgbClr val="64748B"/>
                </a:solidFill>
                <a:latin typeface="Aptos" pitchFamily="34" charset="0"/>
                <a:ea typeface="Aptos" pitchFamily="34" charset="-122"/>
                <a:cs typeface="Aptos" pitchFamily="34" charset="-120"/>
              </a:rPr>
              <a:t>Variables financieras: solo Movies con budget &gt; 0 y revenue &gt; 0.</a:t>
            </a:r>
            <a:endParaRPr lang="en-US" sz="12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CARACTERIZACIÓN DEL CATÁLOGO</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Un catálogo equilibrado... solo a primera vista</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06 · César</a:t>
            </a:r>
            <a:endParaRPr lang="en-US" sz="750" dirty="0"/>
          </a:p>
        </p:txBody>
      </p:sp>
      <p:pic>
        <p:nvPicPr>
          <p:cNvPr id="9" name="Image 0" descr="/mnt/data/streamview_assets/charts/01_peliculas_vs_series.png">    </p:cNvPr>
          <p:cNvPicPr>
            <a:picLocks noChangeAspect="1"/>
          </p:cNvPicPr>
          <p:nvPr/>
        </p:nvPicPr>
        <p:blipFill>
          <a:blip r:embed="rId1"/>
          <a:stretch>
            <a:fillRect/>
          </a:stretch>
        </p:blipFill>
        <p:spPr>
          <a:xfrm>
            <a:off x="566928" y="1776280"/>
            <a:ext cx="6766560" cy="4082681"/>
          </a:xfrm>
          <a:prstGeom prst="rect">
            <a:avLst/>
          </a:prstGeom>
        </p:spPr>
      </p:pic>
      <p:sp>
        <p:nvSpPr>
          <p:cNvPr id="10" name="Text 7"/>
          <p:cNvSpPr/>
          <p:nvPr/>
        </p:nvSpPr>
        <p:spPr>
          <a:xfrm>
            <a:off x="7543800" y="1463040"/>
            <a:ext cx="3611880" cy="658368"/>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El formato está casi 50/50, pero eso no implica homogeneidad.</a:t>
            </a:r>
            <a:endParaRPr lang="en-US" sz="2400" dirty="0"/>
          </a:p>
        </p:txBody>
      </p:sp>
      <p:sp>
        <p:nvSpPr>
          <p:cNvPr id="11" name="Text 8"/>
          <p:cNvSpPr/>
          <p:nvPr/>
        </p:nvSpPr>
        <p:spPr>
          <a:xfrm>
            <a:off x="7571232" y="2514600"/>
            <a:ext cx="3200400" cy="512064"/>
          </a:xfrm>
          <a:prstGeom prst="rect">
            <a:avLst/>
          </a:prstGeom>
          <a:noFill/>
          <a:ln/>
        </p:spPr>
        <p:txBody>
          <a:bodyPr wrap="square" lIns="254" tIns="254" rIns="254" bIns="254" rtlCol="0" anchor="t">
            <a:normAutofit/>
          </a:bodyPr>
          <a:lstStyle/>
          <a:p>
            <a:pPr indent="0" marL="0">
              <a:buNone/>
            </a:pPr>
            <a:r>
              <a:rPr lang="en-US" sz="1450" b="1" dirty="0">
                <a:solidFill>
                  <a:srgbClr val="2F6690"/>
                </a:solidFill>
                <a:latin typeface="Aptos" pitchFamily="34" charset="0"/>
                <a:ea typeface="Aptos" pitchFamily="34" charset="-122"/>
                <a:cs typeface="Aptos" pitchFamily="34" charset="-120"/>
              </a:rPr>
              <a:t>16.000 películas y 15.991 series: la diferencia es de solo 9 contenidos.</a:t>
            </a:r>
            <a:endParaRPr lang="en-US" sz="1450" dirty="0"/>
          </a:p>
        </p:txBody>
      </p:sp>
      <p:sp>
        <p:nvSpPr>
          <p:cNvPr id="12" name="Text 9"/>
          <p:cNvSpPr/>
          <p:nvPr/>
        </p:nvSpPr>
        <p:spPr>
          <a:xfrm>
            <a:off x="7571232" y="3310128"/>
            <a:ext cx="3246120" cy="932688"/>
          </a:xfrm>
          <a:prstGeom prst="rect">
            <a:avLst/>
          </a:prstGeom>
          <a:noFill/>
          <a:ln/>
        </p:spPr>
        <p:txBody>
          <a:bodyPr wrap="square" lIns="254" tIns="254" rIns="254" bIns="254" rtlCol="0" anchor="t">
            <a:normAutofit/>
          </a:bodyPr>
          <a:lstStyle/>
          <a:p>
            <a:pPr indent="0" marL="0">
              <a:buNone/>
            </a:pPr>
            <a:r>
              <a:rPr lang="en-US" sz="1310" dirty="0">
                <a:solidFill>
                  <a:srgbClr val="1F2937"/>
                </a:solidFill>
                <a:latin typeface="Aptos" pitchFamily="34" charset="0"/>
                <a:ea typeface="Aptos" pitchFamily="34" charset="-122"/>
                <a:cs typeface="Aptos" pitchFamily="34" charset="-120"/>
              </a:rPr>
              <a:t>Primera lectura ejecutiva: la composición por formato parece equilibrada. La pregunta siguiente es si ese equilibrio también aparece en géneros, países, idiomas y desempeño.</a:t>
            </a:r>
            <a:endParaRPr lang="en-US" sz="1310" dirty="0"/>
          </a:p>
        </p:txBody>
      </p:sp>
      <p:sp>
        <p:nvSpPr>
          <p:cNvPr id="13" name="Text 10"/>
          <p:cNvSpPr/>
          <p:nvPr/>
        </p:nvSpPr>
        <p:spPr>
          <a:xfrm>
            <a:off x="7571232" y="5010912"/>
            <a:ext cx="3246120" cy="384048"/>
          </a:xfrm>
          <a:prstGeom prst="rect">
            <a:avLst/>
          </a:prstGeom>
          <a:noFill/>
          <a:ln/>
        </p:spPr>
        <p:txBody>
          <a:bodyPr wrap="square" lIns="254" tIns="254" rIns="254" bIns="254" rtlCol="0" anchor="t">
            <a:normAutofit/>
          </a:bodyPr>
          <a:lstStyle/>
          <a:p>
            <a:pPr indent="0" marL="0">
              <a:buNone/>
            </a:pPr>
            <a:r>
              <a:rPr lang="en-US" sz="1220" dirty="0">
                <a:solidFill>
                  <a:srgbClr val="64748B"/>
                </a:solidFill>
                <a:latin typeface="Aptos" pitchFamily="34" charset="0"/>
                <a:ea typeface="Aptos" pitchFamily="34" charset="-122"/>
                <a:cs typeface="Aptos" pitchFamily="34" charset="-120"/>
              </a:rPr>
              <a:t>Gráfico usado: barras para comparar cantidades entre categorías discretas.</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 · CARACTERIZACIÓN DEL CATÁLOGO</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La composición muestra concentraciones por género, país e idioma</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07 · César</a:t>
            </a:r>
            <a:endParaRPr lang="en-US" sz="750" dirty="0"/>
          </a:p>
        </p:txBody>
      </p:sp>
      <p:pic>
        <p:nvPicPr>
          <p:cNvPr id="9" name="Image 0" descr="/mnt/data/streamview_assets/charts/02_generos_predominantes.png">    </p:cNvPr>
          <p:cNvPicPr>
            <a:picLocks noChangeAspect="1"/>
          </p:cNvPicPr>
          <p:nvPr/>
        </p:nvPicPr>
        <p:blipFill>
          <a:blip r:embed="rId1"/>
          <a:stretch>
            <a:fillRect/>
          </a:stretch>
        </p:blipFill>
        <p:spPr>
          <a:xfrm>
            <a:off x="566928" y="2173125"/>
            <a:ext cx="5212080" cy="3151831"/>
          </a:xfrm>
          <a:prstGeom prst="rect">
            <a:avLst/>
          </a:prstGeom>
        </p:spPr>
      </p:pic>
      <p:pic>
        <p:nvPicPr>
          <p:cNvPr id="10" name="Image 1" descr="/mnt/data/streamview_assets/charts/03_paises_idiomas.png">    </p:cNvPr>
          <p:cNvPicPr>
            <a:picLocks noChangeAspect="1"/>
          </p:cNvPicPr>
          <p:nvPr/>
        </p:nvPicPr>
        <p:blipFill>
          <a:blip r:embed="rId2"/>
          <a:stretch>
            <a:fillRect/>
          </a:stretch>
        </p:blipFill>
        <p:spPr>
          <a:xfrm>
            <a:off x="5961888" y="2483469"/>
            <a:ext cx="5394960" cy="2531141"/>
          </a:xfrm>
          <a:prstGeom prst="rect">
            <a:avLst/>
          </a:prstGeom>
        </p:spPr>
      </p:pic>
      <p:sp>
        <p:nvSpPr>
          <p:cNvPr id="11" name="Text 7"/>
          <p:cNvSpPr/>
          <p:nvPr/>
        </p:nvSpPr>
        <p:spPr>
          <a:xfrm>
            <a:off x="658368" y="6364224"/>
            <a:ext cx="8138160" cy="256032"/>
          </a:xfrm>
          <a:prstGeom prst="rect">
            <a:avLst/>
          </a:prstGeom>
          <a:noFill/>
          <a:ln/>
        </p:spPr>
        <p:txBody>
          <a:bodyPr wrap="square" lIns="254" tIns="254" rIns="254" bIns="254" rtlCol="0" anchor="t">
            <a:normAutofit/>
          </a:bodyPr>
          <a:lstStyle/>
          <a:p>
            <a:pPr indent="0" marL="0">
              <a:buNone/>
            </a:pPr>
            <a:r>
              <a:rPr lang="en-US" sz="1130" b="1" dirty="0">
                <a:solidFill>
                  <a:srgbClr val="64748B"/>
                </a:solidFill>
                <a:latin typeface="Aptos" pitchFamily="34" charset="0"/>
                <a:ea typeface="Aptos" pitchFamily="34" charset="-122"/>
                <a:cs typeface="Aptos" pitchFamily="34" charset="-120"/>
              </a:rPr>
              <a:t>Drama lidera; Estados Unidos y el código en concentran la mayor representación.</a:t>
            </a:r>
            <a:endParaRPr lang="en-US" sz="11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 · POPULARIDAD</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Las series tienen una popularidad típica 3,32 veces mayor</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08 · Lucas</a:t>
            </a:r>
            <a:endParaRPr lang="en-US" sz="750" dirty="0"/>
          </a:p>
        </p:txBody>
      </p:sp>
      <p:pic>
        <p:nvPicPr>
          <p:cNvPr id="9" name="Image 0" descr="/mnt/data/streamview_assets/charts/04_popularidad_movies_vs_tv.png">    </p:cNvPr>
          <p:cNvPicPr>
            <a:picLocks noChangeAspect="1"/>
          </p:cNvPicPr>
          <p:nvPr/>
        </p:nvPicPr>
        <p:blipFill>
          <a:blip r:embed="rId1"/>
          <a:stretch>
            <a:fillRect/>
          </a:stretch>
        </p:blipFill>
        <p:spPr>
          <a:xfrm>
            <a:off x="566928" y="1555594"/>
            <a:ext cx="7498080" cy="4524052"/>
          </a:xfrm>
          <a:prstGeom prst="rect">
            <a:avLst/>
          </a:prstGeom>
        </p:spPr>
      </p:pic>
      <p:sp>
        <p:nvSpPr>
          <p:cNvPr id="10" name="Text 7"/>
          <p:cNvSpPr/>
          <p:nvPr/>
        </p:nvSpPr>
        <p:spPr>
          <a:xfrm>
            <a:off x="8394192" y="1600200"/>
            <a:ext cx="1828800" cy="347472"/>
          </a:xfrm>
          <a:prstGeom prst="rect">
            <a:avLst/>
          </a:prstGeom>
          <a:noFill/>
          <a:ln/>
        </p:spPr>
        <p:txBody>
          <a:bodyPr wrap="square" lIns="0" tIns="0" rIns="0" bIns="0" rtlCol="0" anchor="ctr">
            <a:normAutofit/>
          </a:bodyPr>
          <a:lstStyle/>
          <a:p>
            <a:pPr indent="0" marL="0">
              <a:buNone/>
            </a:pPr>
            <a:r>
              <a:rPr lang="en-US" sz="2200" b="1" dirty="0">
                <a:solidFill>
                  <a:srgbClr val="2F6690"/>
                </a:solidFill>
                <a:latin typeface="Aptos Display" pitchFamily="34" charset="0"/>
                <a:ea typeface="Aptos Display" pitchFamily="34" charset="-122"/>
                <a:cs typeface="Aptos Display" pitchFamily="34" charset="-120"/>
              </a:rPr>
              <a:t>10,91</a:t>
            </a:r>
            <a:endParaRPr lang="en-US" sz="2200" dirty="0"/>
          </a:p>
        </p:txBody>
      </p:sp>
      <p:sp>
        <p:nvSpPr>
          <p:cNvPr id="11" name="Text 8"/>
          <p:cNvSpPr/>
          <p:nvPr/>
        </p:nvSpPr>
        <p:spPr>
          <a:xfrm>
            <a:off x="8394192" y="2011680"/>
            <a:ext cx="182880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mediana Movies</a:t>
            </a:r>
            <a:endParaRPr lang="en-US" sz="1060" dirty="0"/>
          </a:p>
        </p:txBody>
      </p:sp>
      <p:sp>
        <p:nvSpPr>
          <p:cNvPr id="12" name="Shape 9"/>
          <p:cNvSpPr/>
          <p:nvPr/>
        </p:nvSpPr>
        <p:spPr>
          <a:xfrm>
            <a:off x="8394192" y="2450592"/>
            <a:ext cx="1371600" cy="0"/>
          </a:xfrm>
          <a:prstGeom prst="line">
            <a:avLst/>
          </a:prstGeom>
          <a:noFill/>
          <a:ln w="17780">
            <a:solidFill>
              <a:srgbClr val="2F6690"/>
            </a:solidFill>
            <a:prstDash val="solid"/>
          </a:ln>
        </p:spPr>
      </p:sp>
      <p:sp>
        <p:nvSpPr>
          <p:cNvPr id="13" name="Text 10"/>
          <p:cNvSpPr/>
          <p:nvPr/>
        </p:nvSpPr>
        <p:spPr>
          <a:xfrm>
            <a:off x="8394192" y="2697480"/>
            <a:ext cx="1828800" cy="347472"/>
          </a:xfrm>
          <a:prstGeom prst="rect">
            <a:avLst/>
          </a:prstGeom>
          <a:noFill/>
          <a:ln/>
        </p:spPr>
        <p:txBody>
          <a:bodyPr wrap="square" lIns="0" tIns="0" rIns="0" bIns="0" rtlCol="0" anchor="ctr">
            <a:normAutofit/>
          </a:bodyPr>
          <a:lstStyle/>
          <a:p>
            <a:pPr indent="0" marL="0">
              <a:buNone/>
            </a:pPr>
            <a:r>
              <a:rPr lang="en-US" sz="2200" b="1" dirty="0">
                <a:solidFill>
                  <a:srgbClr val="D17A22"/>
                </a:solidFill>
                <a:latin typeface="Aptos Display" pitchFamily="34" charset="0"/>
                <a:ea typeface="Aptos Display" pitchFamily="34" charset="-122"/>
                <a:cs typeface="Aptos Display" pitchFamily="34" charset="-120"/>
              </a:rPr>
              <a:t>36,21</a:t>
            </a:r>
            <a:endParaRPr lang="en-US" sz="2200" dirty="0"/>
          </a:p>
        </p:txBody>
      </p:sp>
      <p:sp>
        <p:nvSpPr>
          <p:cNvPr id="14" name="Text 11"/>
          <p:cNvSpPr/>
          <p:nvPr/>
        </p:nvSpPr>
        <p:spPr>
          <a:xfrm>
            <a:off x="8394192" y="3108960"/>
            <a:ext cx="182880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mediana TV Shows</a:t>
            </a:r>
            <a:endParaRPr lang="en-US" sz="1060" dirty="0"/>
          </a:p>
        </p:txBody>
      </p:sp>
      <p:sp>
        <p:nvSpPr>
          <p:cNvPr id="15" name="Shape 12"/>
          <p:cNvSpPr/>
          <p:nvPr/>
        </p:nvSpPr>
        <p:spPr>
          <a:xfrm>
            <a:off x="8394192" y="3547872"/>
            <a:ext cx="1371600" cy="0"/>
          </a:xfrm>
          <a:prstGeom prst="line">
            <a:avLst/>
          </a:prstGeom>
          <a:noFill/>
          <a:ln w="17780">
            <a:solidFill>
              <a:srgbClr val="D17A22"/>
            </a:solidFill>
            <a:prstDash val="solid"/>
          </a:ln>
        </p:spPr>
      </p:sp>
      <p:sp>
        <p:nvSpPr>
          <p:cNvPr id="16" name="Text 13"/>
          <p:cNvSpPr/>
          <p:nvPr/>
        </p:nvSpPr>
        <p:spPr>
          <a:xfrm>
            <a:off x="8394192" y="4069080"/>
            <a:ext cx="2788920" cy="713232"/>
          </a:xfrm>
          <a:prstGeom prst="rect">
            <a:avLst/>
          </a:prstGeom>
          <a:noFill/>
          <a:ln/>
        </p:spPr>
        <p:txBody>
          <a:bodyPr wrap="square" lIns="254" tIns="254" rIns="254" bIns="254" rtlCol="0" anchor="t">
            <a:normAutofit/>
          </a:bodyPr>
          <a:lstStyle/>
          <a:p>
            <a:pPr indent="0" marL="0">
              <a:buNone/>
            </a:pPr>
            <a:r>
              <a:rPr lang="en-US" sz="1520" b="1" dirty="0">
                <a:solidFill>
                  <a:srgbClr val="0F172A"/>
                </a:solidFill>
                <a:latin typeface="Aptos" pitchFamily="34" charset="0"/>
                <a:ea typeface="Aptos" pitchFamily="34" charset="-122"/>
                <a:cs typeface="Aptos" pitchFamily="34" charset="-120"/>
              </a:rPr>
              <a:t>Implicancia: Movies y TV Shows no deberían evaluarse con un único umbral de popularidad.</a:t>
            </a:r>
            <a:endParaRPr lang="en-US" sz="1520" dirty="0"/>
          </a:p>
        </p:txBody>
      </p:sp>
      <p:sp>
        <p:nvSpPr>
          <p:cNvPr id="17" name="Text 14"/>
          <p:cNvSpPr/>
          <p:nvPr/>
        </p:nvSpPr>
        <p:spPr>
          <a:xfrm>
            <a:off x="8394192" y="5230368"/>
            <a:ext cx="2834640" cy="365760"/>
          </a:xfrm>
          <a:prstGeom prst="rect">
            <a:avLst/>
          </a:prstGeom>
          <a:noFill/>
          <a:ln/>
        </p:spPr>
        <p:txBody>
          <a:bodyPr wrap="square" lIns="254" tIns="254" rIns="254" bIns="254" rtlCol="0" anchor="t">
            <a:normAutofit/>
          </a:bodyPr>
          <a:lstStyle/>
          <a:p>
            <a:pPr indent="0" marL="0">
              <a:buNone/>
            </a:pPr>
            <a:r>
              <a:rPr lang="en-US" sz="1150" dirty="0">
                <a:solidFill>
                  <a:srgbClr val="64748B"/>
                </a:solidFill>
                <a:latin typeface="Aptos" pitchFamily="34" charset="0"/>
                <a:ea typeface="Aptos" pitchFamily="34" charset="-122"/>
                <a:cs typeface="Aptos" pitchFamily="34" charset="-120"/>
              </a:rPr>
              <a:t>Usamos mediana porque la distribución tiene valores extremos.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 · VALORACIÓN Y EVIDENCIA</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La valoración necesita contexto: ¿cuántos votos la sostienen?</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09 · Lucas</a:t>
            </a:r>
            <a:endParaRPr lang="en-US" sz="750" dirty="0"/>
          </a:p>
        </p:txBody>
      </p:sp>
      <p:pic>
        <p:nvPicPr>
          <p:cNvPr id="9" name="Image 0" descr="/mnt/data/streamview_assets/charts/05_valoracion_votos.png">    </p:cNvPr>
          <p:cNvPicPr>
            <a:picLocks noChangeAspect="1"/>
          </p:cNvPicPr>
          <p:nvPr/>
        </p:nvPicPr>
        <p:blipFill>
          <a:blip r:embed="rId1"/>
          <a:stretch>
            <a:fillRect/>
          </a:stretch>
        </p:blipFill>
        <p:spPr>
          <a:xfrm>
            <a:off x="566928" y="1854340"/>
            <a:ext cx="8275320" cy="3880840"/>
          </a:xfrm>
          <a:prstGeom prst="rect">
            <a:avLst/>
          </a:prstGeom>
        </p:spPr>
      </p:pic>
      <p:sp>
        <p:nvSpPr>
          <p:cNvPr id="10" name="Text 7"/>
          <p:cNvSpPr/>
          <p:nvPr/>
        </p:nvSpPr>
        <p:spPr>
          <a:xfrm>
            <a:off x="9070848" y="1554480"/>
            <a:ext cx="2377440" cy="841248"/>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Una calificación alta no siempre es una señal robusta.</a:t>
            </a:r>
            <a:endParaRPr lang="en-US" sz="2400" dirty="0"/>
          </a:p>
        </p:txBody>
      </p:sp>
      <p:sp>
        <p:nvSpPr>
          <p:cNvPr id="11" name="Text 8"/>
          <p:cNvSpPr/>
          <p:nvPr/>
        </p:nvSpPr>
        <p:spPr>
          <a:xfrm>
            <a:off x="9098280" y="2743200"/>
            <a:ext cx="2286000" cy="777240"/>
          </a:xfrm>
          <a:prstGeom prst="rect">
            <a:avLst/>
          </a:prstGeom>
          <a:noFill/>
          <a:ln/>
        </p:spPr>
        <p:txBody>
          <a:bodyPr wrap="square" lIns="254" tIns="254" rIns="254" bIns="254" rtlCol="0" anchor="t">
            <a:normAutofit/>
          </a:bodyPr>
          <a:lstStyle/>
          <a:p>
            <a:pPr indent="0" marL="0">
              <a:buNone/>
            </a:pPr>
            <a:r>
              <a:rPr lang="en-US" sz="1340" b="1" dirty="0">
                <a:solidFill>
                  <a:srgbClr val="0F172A"/>
                </a:solidFill>
                <a:latin typeface="Aptos" pitchFamily="34" charset="0"/>
                <a:ea typeface="Aptos" pitchFamily="34" charset="-122"/>
                <a:cs typeface="Aptos" pitchFamily="34" charset="-120"/>
              </a:rPr>
              <a:t>TV Shows puntúan más alto en promedio, pero Movies acumulan mucho más respaldo de votos.</a:t>
            </a:r>
            <a:endParaRPr lang="en-US" sz="1340" dirty="0"/>
          </a:p>
        </p:txBody>
      </p:sp>
      <p:sp>
        <p:nvSpPr>
          <p:cNvPr id="12" name="Text 9"/>
          <p:cNvSpPr/>
          <p:nvPr/>
        </p:nvSpPr>
        <p:spPr>
          <a:xfrm>
            <a:off x="9098280" y="4251960"/>
            <a:ext cx="2286000" cy="502920"/>
          </a:xfrm>
          <a:prstGeom prst="rect">
            <a:avLst/>
          </a:prstGeom>
          <a:noFill/>
          <a:ln/>
        </p:spPr>
        <p:txBody>
          <a:bodyPr wrap="square" lIns="254" tIns="254" rIns="254" bIns="254" rtlCol="0" anchor="t">
            <a:normAutofit/>
          </a:bodyPr>
          <a:lstStyle/>
          <a:p>
            <a:pPr indent="0" marL="0">
              <a:buNone/>
            </a:pPr>
            <a:r>
              <a:rPr lang="en-US" sz="1220" dirty="0">
                <a:solidFill>
                  <a:srgbClr val="64748B"/>
                </a:solidFill>
                <a:latin typeface="Aptos" pitchFamily="34" charset="0"/>
                <a:ea typeface="Aptos" pitchFamily="34" charset="-122"/>
                <a:cs typeface="Aptos" pitchFamily="34" charset="-120"/>
              </a:rPr>
              <a:t>Lectura: la calidad percibida debe acompañarse de cantidad de evidencia.</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 · RELACIÓN POPULARIDAD–CALIFICACIÓN</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Ser popular no significa necesariamente estar mejor evaluado</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10 · Lucas</a:t>
            </a:r>
            <a:endParaRPr lang="en-US" sz="750" dirty="0"/>
          </a:p>
        </p:txBody>
      </p:sp>
      <p:pic>
        <p:nvPicPr>
          <p:cNvPr id="9" name="Image 0" descr="/mnt/data/streamview_assets/charts/06_popularidad_vs_valoracion.png">    </p:cNvPr>
          <p:cNvPicPr>
            <a:picLocks noChangeAspect="1"/>
          </p:cNvPicPr>
          <p:nvPr/>
        </p:nvPicPr>
        <p:blipFill>
          <a:blip r:embed="rId1"/>
          <a:stretch>
            <a:fillRect/>
          </a:stretch>
        </p:blipFill>
        <p:spPr>
          <a:xfrm>
            <a:off x="566928" y="1577425"/>
            <a:ext cx="7543800" cy="4480389"/>
          </a:xfrm>
          <a:prstGeom prst="rect">
            <a:avLst/>
          </a:prstGeom>
        </p:spPr>
      </p:pic>
      <p:sp>
        <p:nvSpPr>
          <p:cNvPr id="10" name="Shape 7"/>
          <p:cNvSpPr/>
          <p:nvPr/>
        </p:nvSpPr>
        <p:spPr>
          <a:xfrm>
            <a:off x="8366760" y="1508760"/>
            <a:ext cx="457200" cy="0"/>
          </a:xfrm>
          <a:prstGeom prst="line">
            <a:avLst/>
          </a:prstGeom>
          <a:noFill/>
          <a:ln w="30480">
            <a:solidFill>
              <a:srgbClr val="2A9D8F"/>
            </a:solidFill>
            <a:prstDash val="solid"/>
          </a:ln>
        </p:spPr>
      </p:sp>
      <p:sp>
        <p:nvSpPr>
          <p:cNvPr id="11" name="Text 8"/>
          <p:cNvSpPr/>
          <p:nvPr/>
        </p:nvSpPr>
        <p:spPr>
          <a:xfrm>
            <a:off x="8933688" y="1417320"/>
            <a:ext cx="2542032"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SPEARMAN</a:t>
            </a:r>
            <a:endParaRPr lang="en-US" sz="1100" dirty="0"/>
          </a:p>
        </p:txBody>
      </p:sp>
      <p:sp>
        <p:nvSpPr>
          <p:cNvPr id="12" name="Text 9"/>
          <p:cNvSpPr/>
          <p:nvPr/>
        </p:nvSpPr>
        <p:spPr>
          <a:xfrm>
            <a:off x="8366760" y="1920240"/>
            <a:ext cx="2377440" cy="347472"/>
          </a:xfrm>
          <a:prstGeom prst="rect">
            <a:avLst/>
          </a:prstGeom>
          <a:noFill/>
          <a:ln/>
        </p:spPr>
        <p:txBody>
          <a:bodyPr wrap="square" lIns="0" tIns="0" rIns="0" bIns="0" rtlCol="0" anchor="ctr">
            <a:normAutofit/>
          </a:bodyPr>
          <a:lstStyle/>
          <a:p>
            <a:pPr indent="0" marL="0">
              <a:buNone/>
            </a:pPr>
            <a:r>
              <a:rPr lang="en-US" sz="2200" b="1" dirty="0">
                <a:solidFill>
                  <a:srgbClr val="2F6690"/>
                </a:solidFill>
                <a:latin typeface="Aptos Display" pitchFamily="34" charset="0"/>
                <a:ea typeface="Aptos Display" pitchFamily="34" charset="-122"/>
                <a:cs typeface="Aptos Display" pitchFamily="34" charset="-120"/>
              </a:rPr>
              <a:t>0,22</a:t>
            </a:r>
            <a:endParaRPr lang="en-US" sz="2200" dirty="0"/>
          </a:p>
        </p:txBody>
      </p:sp>
      <p:sp>
        <p:nvSpPr>
          <p:cNvPr id="13" name="Text 10"/>
          <p:cNvSpPr/>
          <p:nvPr/>
        </p:nvSpPr>
        <p:spPr>
          <a:xfrm>
            <a:off x="8366760" y="2331720"/>
            <a:ext cx="237744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Movies · relación débil</a:t>
            </a:r>
            <a:endParaRPr lang="en-US" sz="1060" dirty="0"/>
          </a:p>
        </p:txBody>
      </p:sp>
      <p:sp>
        <p:nvSpPr>
          <p:cNvPr id="14" name="Shape 11"/>
          <p:cNvSpPr/>
          <p:nvPr/>
        </p:nvSpPr>
        <p:spPr>
          <a:xfrm>
            <a:off x="8366760" y="2770632"/>
            <a:ext cx="1783080" cy="0"/>
          </a:xfrm>
          <a:prstGeom prst="line">
            <a:avLst/>
          </a:prstGeom>
          <a:noFill/>
          <a:ln w="17780">
            <a:solidFill>
              <a:srgbClr val="2F6690"/>
            </a:solidFill>
            <a:prstDash val="solid"/>
          </a:ln>
        </p:spPr>
      </p:sp>
      <p:sp>
        <p:nvSpPr>
          <p:cNvPr id="15" name="Text 12"/>
          <p:cNvSpPr/>
          <p:nvPr/>
        </p:nvSpPr>
        <p:spPr>
          <a:xfrm>
            <a:off x="8366760" y="3154680"/>
            <a:ext cx="2377440" cy="347472"/>
          </a:xfrm>
          <a:prstGeom prst="rect">
            <a:avLst/>
          </a:prstGeom>
          <a:noFill/>
          <a:ln/>
        </p:spPr>
        <p:txBody>
          <a:bodyPr wrap="square" lIns="0" tIns="0" rIns="0" bIns="0" rtlCol="0" anchor="ctr">
            <a:normAutofit/>
          </a:bodyPr>
          <a:lstStyle/>
          <a:p>
            <a:pPr indent="0" marL="0">
              <a:buNone/>
            </a:pPr>
            <a:r>
              <a:rPr lang="en-US" sz="2200" b="1" dirty="0">
                <a:solidFill>
                  <a:srgbClr val="D17A22"/>
                </a:solidFill>
                <a:latin typeface="Aptos Display" pitchFamily="34" charset="0"/>
                <a:ea typeface="Aptos Display" pitchFamily="34" charset="-122"/>
                <a:cs typeface="Aptos Display" pitchFamily="34" charset="-120"/>
              </a:rPr>
              <a:t>0,04</a:t>
            </a:r>
            <a:endParaRPr lang="en-US" sz="2200" dirty="0"/>
          </a:p>
        </p:txBody>
      </p:sp>
      <p:sp>
        <p:nvSpPr>
          <p:cNvPr id="16" name="Text 13"/>
          <p:cNvSpPr/>
          <p:nvPr/>
        </p:nvSpPr>
        <p:spPr>
          <a:xfrm>
            <a:off x="8366760" y="3566160"/>
            <a:ext cx="237744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TV Shows · casi nula</a:t>
            </a:r>
            <a:endParaRPr lang="en-US" sz="1060" dirty="0"/>
          </a:p>
        </p:txBody>
      </p:sp>
      <p:sp>
        <p:nvSpPr>
          <p:cNvPr id="17" name="Shape 14"/>
          <p:cNvSpPr/>
          <p:nvPr/>
        </p:nvSpPr>
        <p:spPr>
          <a:xfrm>
            <a:off x="8366760" y="4005072"/>
            <a:ext cx="1783080" cy="0"/>
          </a:xfrm>
          <a:prstGeom prst="line">
            <a:avLst/>
          </a:prstGeom>
          <a:noFill/>
          <a:ln w="17780">
            <a:solidFill>
              <a:srgbClr val="D17A22"/>
            </a:solidFill>
            <a:prstDash val="solid"/>
          </a:ln>
        </p:spPr>
      </p:sp>
      <p:sp>
        <p:nvSpPr>
          <p:cNvPr id="18" name="Text 15"/>
          <p:cNvSpPr/>
          <p:nvPr/>
        </p:nvSpPr>
        <p:spPr>
          <a:xfrm>
            <a:off x="8366760" y="4572000"/>
            <a:ext cx="2606040" cy="658368"/>
          </a:xfrm>
          <a:prstGeom prst="rect">
            <a:avLst/>
          </a:prstGeom>
          <a:noFill/>
          <a:ln/>
        </p:spPr>
        <p:txBody>
          <a:bodyPr wrap="square" lIns="254" tIns="254" rIns="254" bIns="254" rtlCol="0" anchor="t">
            <a:normAutofit/>
          </a:bodyPr>
          <a:lstStyle/>
          <a:p>
            <a:pPr indent="0" marL="0">
              <a:buNone/>
            </a:pPr>
            <a:r>
              <a:rPr lang="en-US" sz="1520" b="1" dirty="0">
                <a:solidFill>
                  <a:srgbClr val="0F172A"/>
                </a:solidFill>
                <a:latin typeface="Aptos" pitchFamily="34" charset="0"/>
                <a:ea typeface="Aptos" pitchFamily="34" charset="-122"/>
                <a:cs typeface="Aptos" pitchFamily="34" charset="-120"/>
              </a:rPr>
              <a:t>Decisión: mantener popularidad y calificación como criterios separados.</a:t>
            </a:r>
            <a:endParaRPr lang="en-US" sz="15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 · PATRONES Y TENDENCIAS</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El contexto cambia la lectura: género y tiempo</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11 · Lucas</a:t>
            </a:r>
            <a:endParaRPr lang="en-US" sz="750" dirty="0"/>
          </a:p>
        </p:txBody>
      </p:sp>
      <p:pic>
        <p:nvPicPr>
          <p:cNvPr id="9" name="Image 0" descr="/mnt/data/streamview_assets/charts/07_popularidad_por_genero.png">    </p:cNvPr>
          <p:cNvPicPr>
            <a:picLocks noChangeAspect="1"/>
          </p:cNvPicPr>
          <p:nvPr/>
        </p:nvPicPr>
        <p:blipFill>
          <a:blip r:embed="rId1"/>
          <a:stretch>
            <a:fillRect/>
          </a:stretch>
        </p:blipFill>
        <p:spPr>
          <a:xfrm>
            <a:off x="566928" y="2198635"/>
            <a:ext cx="5212080" cy="3146530"/>
          </a:xfrm>
          <a:prstGeom prst="rect">
            <a:avLst/>
          </a:prstGeom>
        </p:spPr>
      </p:pic>
      <p:pic>
        <p:nvPicPr>
          <p:cNvPr id="10" name="Image 1" descr="/mnt/data/streamview_assets/charts/08_evolucion_2010_2025.png">    </p:cNvPr>
          <p:cNvPicPr>
            <a:picLocks noChangeAspect="1"/>
          </p:cNvPicPr>
          <p:nvPr/>
        </p:nvPicPr>
        <p:blipFill>
          <a:blip r:embed="rId2"/>
          <a:stretch>
            <a:fillRect/>
          </a:stretch>
        </p:blipFill>
        <p:spPr>
          <a:xfrm>
            <a:off x="6080760" y="2261054"/>
            <a:ext cx="5257800" cy="3021692"/>
          </a:xfrm>
          <a:prstGeom prst="rect">
            <a:avLst/>
          </a:prstGeom>
        </p:spPr>
      </p:pic>
      <p:sp>
        <p:nvSpPr>
          <p:cNvPr id="11" name="Text 7"/>
          <p:cNvSpPr/>
          <p:nvPr/>
        </p:nvSpPr>
        <p:spPr>
          <a:xfrm>
            <a:off x="658368" y="6382512"/>
            <a:ext cx="8503920" cy="228600"/>
          </a:xfrm>
          <a:prstGeom prst="rect">
            <a:avLst/>
          </a:prstGeom>
          <a:noFill/>
          <a:ln/>
        </p:spPr>
        <p:txBody>
          <a:bodyPr wrap="square" lIns="254" tIns="254" rIns="254" bIns="254" rtlCol="0" anchor="t">
            <a:normAutofit/>
          </a:bodyPr>
          <a:lstStyle/>
          <a:p>
            <a:pPr indent="0" marL="0">
              <a:buNone/>
            </a:pPr>
            <a:r>
              <a:rPr lang="en-US" sz="1140" b="1" dirty="0">
                <a:solidFill>
                  <a:srgbClr val="64748B"/>
                </a:solidFill>
                <a:latin typeface="Aptos" pitchFamily="34" charset="0"/>
                <a:ea typeface="Aptos" pitchFamily="34" charset="-122"/>
                <a:cs typeface="Aptos" pitchFamily="34" charset="-120"/>
              </a:rPr>
              <a:t>Género orienta exploración editorial; tiempo evidencia trayectorias distintas por formato.</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 · SOLUCIÓN VISUAL</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Dashboard interactivo: explorar sin sobrecargar la historia</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12 · Lucas</a:t>
            </a:r>
            <a:endParaRPr lang="en-US" sz="750" dirty="0"/>
          </a:p>
        </p:txBody>
      </p:sp>
      <p:sp>
        <p:nvSpPr>
          <p:cNvPr id="9" name="Text 7"/>
          <p:cNvSpPr/>
          <p:nvPr/>
        </p:nvSpPr>
        <p:spPr>
          <a:xfrm>
            <a:off x="658368" y="1325880"/>
            <a:ext cx="5212080" cy="512064"/>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La presentación cuenta la historia; el dashboard permite explorarla.</a:t>
            </a:r>
            <a:endParaRPr lang="en-US" sz="2400" dirty="0"/>
          </a:p>
        </p:txBody>
      </p:sp>
      <p:sp>
        <p:nvSpPr>
          <p:cNvPr id="10" name="Text 8"/>
          <p:cNvSpPr/>
          <p:nvPr/>
        </p:nvSpPr>
        <p:spPr>
          <a:xfrm>
            <a:off x="685800" y="2011680"/>
            <a:ext cx="5120640" cy="658368"/>
          </a:xfrm>
          <a:prstGeom prst="rect">
            <a:avLst/>
          </a:prstGeom>
          <a:noFill/>
          <a:ln/>
        </p:spPr>
        <p:txBody>
          <a:bodyPr wrap="square" lIns="254" tIns="254" rIns="254" bIns="254" rtlCol="0" anchor="t">
            <a:normAutofit/>
          </a:bodyPr>
          <a:lstStyle/>
          <a:p>
            <a:pPr indent="0" marL="0">
              <a:buNone/>
            </a:pPr>
            <a:r>
              <a:rPr lang="en-US" sz="1360" dirty="0">
                <a:solidFill>
                  <a:srgbClr val="1F2937"/>
                </a:solidFill>
                <a:latin typeface="Aptos" pitchFamily="34" charset="0"/>
                <a:ea typeface="Aptos" pitchFamily="34" charset="-122"/>
                <a:cs typeface="Aptos" pitchFamily="34" charset="-120"/>
              </a:rPr>
              <a:t>Vista ejecutiva propuesta con KPIs, filtros, navegación por sección e interacción para profundizar en catálogo, popularidad, valoración, temporalidad y finanzas.</a:t>
            </a:r>
            <a:endParaRPr lang="en-US" sz="1360" dirty="0"/>
          </a:p>
        </p:txBody>
      </p:sp>
      <p:sp>
        <p:nvSpPr>
          <p:cNvPr id="11" name="Shape 9"/>
          <p:cNvSpPr/>
          <p:nvPr/>
        </p:nvSpPr>
        <p:spPr>
          <a:xfrm>
            <a:off x="685800" y="3154680"/>
            <a:ext cx="457200" cy="0"/>
          </a:xfrm>
          <a:prstGeom prst="line">
            <a:avLst/>
          </a:prstGeom>
          <a:noFill/>
          <a:ln w="30480">
            <a:solidFill>
              <a:srgbClr val="2F6690"/>
            </a:solidFill>
            <a:prstDash val="solid"/>
          </a:ln>
        </p:spPr>
      </p:sp>
      <p:sp>
        <p:nvSpPr>
          <p:cNvPr id="12" name="Text 10"/>
          <p:cNvSpPr/>
          <p:nvPr/>
        </p:nvSpPr>
        <p:spPr>
          <a:xfrm>
            <a:off x="1252728" y="306324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KPIs</a:t>
            </a:r>
            <a:endParaRPr lang="en-US" sz="1100" dirty="0"/>
          </a:p>
        </p:txBody>
      </p:sp>
      <p:sp>
        <p:nvSpPr>
          <p:cNvPr id="13" name="Text 11"/>
          <p:cNvSpPr/>
          <p:nvPr/>
        </p:nvSpPr>
        <p:spPr>
          <a:xfrm>
            <a:off x="685800" y="3502152"/>
            <a:ext cx="5394960" cy="658368"/>
          </a:xfrm>
          <a:prstGeom prst="rect">
            <a:avLst/>
          </a:prstGeom>
          <a:noFill/>
          <a:ln/>
        </p:spPr>
        <p:txBody>
          <a:bodyPr wrap="square" lIns="254" tIns="254" rIns="254" bIns="254" rtlCol="0" anchor="t">
            <a:normAutofit/>
          </a:bodyPr>
          <a:lstStyle/>
          <a:p>
            <a:pPr indent="0" marL="0">
              <a:buNone/>
            </a:pPr>
            <a:r>
              <a:rPr lang="en-US" sz="1360" b="1" dirty="0">
                <a:solidFill>
                  <a:srgbClr val="0F172A"/>
                </a:solidFill>
                <a:latin typeface="Aptos" pitchFamily="34" charset="0"/>
                <a:ea typeface="Aptos" pitchFamily="34" charset="-122"/>
                <a:cs typeface="Aptos" pitchFamily="34" charset="-120"/>
              </a:rPr>
              <a:t>31.991 contenidos · 50/50 formato · 3.540 películas financieras · 295 candidatas de bajo presupuesto y alto retorno</a:t>
            </a:r>
            <a:endParaRPr lang="en-US" sz="1360" dirty="0"/>
          </a:p>
        </p:txBody>
      </p:sp>
      <p:sp>
        <p:nvSpPr>
          <p:cNvPr id="14" name="Shape 12"/>
          <p:cNvSpPr/>
          <p:nvPr/>
        </p:nvSpPr>
        <p:spPr>
          <a:xfrm>
            <a:off x="685800" y="4709160"/>
            <a:ext cx="457200" cy="0"/>
          </a:xfrm>
          <a:prstGeom prst="line">
            <a:avLst/>
          </a:prstGeom>
          <a:noFill/>
          <a:ln w="30480">
            <a:solidFill>
              <a:srgbClr val="D17A22"/>
            </a:solidFill>
            <a:prstDash val="solid"/>
          </a:ln>
        </p:spPr>
      </p:sp>
      <p:sp>
        <p:nvSpPr>
          <p:cNvPr id="15" name="Text 13"/>
          <p:cNvSpPr/>
          <p:nvPr/>
        </p:nvSpPr>
        <p:spPr>
          <a:xfrm>
            <a:off x="1252728" y="46177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FILTROS / NAVEGACIÓN</a:t>
            </a:r>
            <a:endParaRPr lang="en-US" sz="1100" dirty="0"/>
          </a:p>
        </p:txBody>
      </p:sp>
      <p:sp>
        <p:nvSpPr>
          <p:cNvPr id="16" name="Text 14"/>
          <p:cNvSpPr/>
          <p:nvPr/>
        </p:nvSpPr>
        <p:spPr>
          <a:xfrm>
            <a:off x="685800" y="5056632"/>
            <a:ext cx="5394960" cy="475488"/>
          </a:xfrm>
          <a:prstGeom prst="rect">
            <a:avLst/>
          </a:prstGeom>
          <a:noFill/>
          <a:ln/>
        </p:spPr>
        <p:txBody>
          <a:bodyPr wrap="square" lIns="254" tIns="254" rIns="254" bIns="254" rtlCol="0" anchor="t">
            <a:normAutofit/>
          </a:bodyPr>
          <a:lstStyle/>
          <a:p>
            <a:pPr indent="0" marL="0">
              <a:buNone/>
            </a:pPr>
            <a:r>
              <a:rPr lang="en-US" sz="1320" dirty="0">
                <a:solidFill>
                  <a:srgbClr val="1F2937"/>
                </a:solidFill>
                <a:latin typeface="Aptos" pitchFamily="34" charset="0"/>
                <a:ea typeface="Aptos" pitchFamily="34" charset="-122"/>
                <a:cs typeface="Aptos" pitchFamily="34" charset="-120"/>
              </a:rPr>
              <a:t>Tipo · género · país · idioma · año · secciones: Ejecutivo / Catálogo / Popularidad / Finanzas</a:t>
            </a:r>
            <a:endParaRPr lang="en-US" sz="1320" dirty="0"/>
          </a:p>
        </p:txBody>
      </p:sp>
      <p:pic>
        <p:nvPicPr>
          <p:cNvPr id="17" name="Image 0" descr="/mnt/data/streamview_assets/charts/01_peliculas_vs_series.png">    </p:cNvPr>
          <p:cNvPicPr>
            <a:picLocks noChangeAspect="1"/>
          </p:cNvPicPr>
          <p:nvPr/>
        </p:nvPicPr>
        <p:blipFill>
          <a:blip r:embed="rId1"/>
          <a:stretch>
            <a:fillRect/>
          </a:stretch>
        </p:blipFill>
        <p:spPr>
          <a:xfrm>
            <a:off x="6446520" y="1509644"/>
            <a:ext cx="2194560" cy="1324113"/>
          </a:xfrm>
          <a:prstGeom prst="rect">
            <a:avLst/>
          </a:prstGeom>
        </p:spPr>
      </p:pic>
      <p:pic>
        <p:nvPicPr>
          <p:cNvPr id="18" name="Image 1" descr="/mnt/data/streamview_assets/charts/04_popularidad_movies_vs_tv.png">    </p:cNvPr>
          <p:cNvPicPr>
            <a:picLocks noChangeAspect="1"/>
          </p:cNvPicPr>
          <p:nvPr/>
        </p:nvPicPr>
        <p:blipFill>
          <a:blip r:embed="rId2"/>
          <a:stretch>
            <a:fillRect/>
          </a:stretch>
        </p:blipFill>
        <p:spPr>
          <a:xfrm>
            <a:off x="9006840" y="1509644"/>
            <a:ext cx="2194560" cy="1324113"/>
          </a:xfrm>
          <a:prstGeom prst="rect">
            <a:avLst/>
          </a:prstGeom>
        </p:spPr>
      </p:pic>
      <p:pic>
        <p:nvPicPr>
          <p:cNvPr id="19" name="Image 2" descr="/mnt/data/streamview_assets/charts/06_popularidad_vs_valoracion.png">    </p:cNvPr>
          <p:cNvPicPr>
            <a:picLocks noChangeAspect="1"/>
          </p:cNvPicPr>
          <p:nvPr/>
        </p:nvPicPr>
        <p:blipFill>
          <a:blip r:embed="rId3"/>
          <a:stretch>
            <a:fillRect/>
          </a:stretch>
        </p:blipFill>
        <p:spPr>
          <a:xfrm>
            <a:off x="6446520" y="3714567"/>
            <a:ext cx="2194560" cy="1303386"/>
          </a:xfrm>
          <a:prstGeom prst="rect">
            <a:avLst/>
          </a:prstGeom>
        </p:spPr>
      </p:pic>
      <p:pic>
        <p:nvPicPr>
          <p:cNvPr id="20" name="Image 3" descr="/mnt/data/streamview_assets/charts/09_budget_vs_revenue.png">    </p:cNvPr>
          <p:cNvPicPr>
            <a:picLocks noChangeAspect="1"/>
          </p:cNvPicPr>
          <p:nvPr/>
        </p:nvPicPr>
        <p:blipFill>
          <a:blip r:embed="rId4"/>
          <a:stretch>
            <a:fillRect/>
          </a:stretch>
        </p:blipFill>
        <p:spPr>
          <a:xfrm>
            <a:off x="9006840" y="3713871"/>
            <a:ext cx="2194560" cy="1304778"/>
          </a:xfrm>
          <a:prstGeom prst="rect">
            <a:avLst/>
          </a:prstGeom>
        </p:spPr>
      </p:pic>
      <p:sp>
        <p:nvSpPr>
          <p:cNvPr id="21" name="Text 15"/>
          <p:cNvSpPr/>
          <p:nvPr/>
        </p:nvSpPr>
        <p:spPr>
          <a:xfrm>
            <a:off x="6446520" y="5559552"/>
            <a:ext cx="4663440" cy="256032"/>
          </a:xfrm>
          <a:prstGeom prst="rect">
            <a:avLst/>
          </a:prstGeom>
          <a:noFill/>
          <a:ln/>
        </p:spPr>
        <p:txBody>
          <a:bodyPr wrap="square" lIns="254" tIns="254" rIns="254" bIns="254" rtlCol="0" anchor="t">
            <a:normAutofit/>
          </a:bodyPr>
          <a:lstStyle/>
          <a:p>
            <a:pPr indent="0" marL="0">
              <a:buNone/>
            </a:pPr>
            <a:r>
              <a:rPr lang="en-US" sz="1040" b="1" dirty="0">
                <a:solidFill>
                  <a:srgbClr val="64748B"/>
                </a:solidFill>
                <a:latin typeface="Aptos" pitchFamily="34" charset="0"/>
                <a:ea typeface="Aptos" pitchFamily="34" charset="-122"/>
                <a:cs typeface="Aptos" pitchFamily="34" charset="-120"/>
              </a:rPr>
              <a:t>Miniaturas del flujo de exploración: composición → desempeño → relación → finanzas.</a:t>
            </a:r>
            <a:endParaRPr lang="en-US" sz="10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III · ANÁLISIS FINANCIERO</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Mayor inversión se asocia con mayores ingresos, pero no los garantiza</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13 · Ignacio</a:t>
            </a:r>
            <a:endParaRPr lang="en-US" sz="750" dirty="0"/>
          </a:p>
        </p:txBody>
      </p:sp>
      <p:pic>
        <p:nvPicPr>
          <p:cNvPr id="9" name="Image 0" descr="/mnt/data/streamview_assets/charts/09_budget_vs_revenue.png">    </p:cNvPr>
          <p:cNvPicPr>
            <a:picLocks noChangeAspect="1"/>
          </p:cNvPicPr>
          <p:nvPr/>
        </p:nvPicPr>
        <p:blipFill>
          <a:blip r:embed="rId1"/>
          <a:stretch>
            <a:fillRect/>
          </a:stretch>
        </p:blipFill>
        <p:spPr>
          <a:xfrm>
            <a:off x="566928" y="1534258"/>
            <a:ext cx="7680960" cy="4566725"/>
          </a:xfrm>
          <a:prstGeom prst="rect">
            <a:avLst/>
          </a:prstGeom>
        </p:spPr>
      </p:pic>
      <p:sp>
        <p:nvSpPr>
          <p:cNvPr id="10" name="Text 7"/>
          <p:cNvSpPr/>
          <p:nvPr/>
        </p:nvSpPr>
        <p:spPr>
          <a:xfrm>
            <a:off x="8549640" y="1508760"/>
            <a:ext cx="2560320" cy="347472"/>
          </a:xfrm>
          <a:prstGeom prst="rect">
            <a:avLst/>
          </a:prstGeom>
          <a:noFill/>
          <a:ln/>
        </p:spPr>
        <p:txBody>
          <a:bodyPr wrap="square" lIns="0" tIns="0" rIns="0" bIns="0" rtlCol="0" anchor="ctr">
            <a:normAutofit/>
          </a:bodyPr>
          <a:lstStyle/>
          <a:p>
            <a:pPr indent="0" marL="0">
              <a:buNone/>
            </a:pPr>
            <a:r>
              <a:rPr lang="en-US" sz="2200" b="1" dirty="0">
                <a:solidFill>
                  <a:srgbClr val="2A9D8F"/>
                </a:solidFill>
                <a:latin typeface="Aptos Display" pitchFamily="34" charset="0"/>
                <a:ea typeface="Aptos Display" pitchFamily="34" charset="-122"/>
                <a:cs typeface="Aptos Display" pitchFamily="34" charset="-120"/>
              </a:rPr>
              <a:t>3.540</a:t>
            </a:r>
            <a:endParaRPr lang="en-US" sz="2200" dirty="0"/>
          </a:p>
        </p:txBody>
      </p:sp>
      <p:sp>
        <p:nvSpPr>
          <p:cNvPr id="11" name="Text 8"/>
          <p:cNvSpPr/>
          <p:nvPr/>
        </p:nvSpPr>
        <p:spPr>
          <a:xfrm>
            <a:off x="8549640" y="1920240"/>
            <a:ext cx="256032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películas válidas financieramente</a:t>
            </a:r>
            <a:endParaRPr lang="en-US" sz="1060" dirty="0"/>
          </a:p>
        </p:txBody>
      </p:sp>
      <p:sp>
        <p:nvSpPr>
          <p:cNvPr id="12" name="Shape 9"/>
          <p:cNvSpPr/>
          <p:nvPr/>
        </p:nvSpPr>
        <p:spPr>
          <a:xfrm>
            <a:off x="8549640" y="2359152"/>
            <a:ext cx="1920240" cy="0"/>
          </a:xfrm>
          <a:prstGeom prst="line">
            <a:avLst/>
          </a:prstGeom>
          <a:noFill/>
          <a:ln w="17780">
            <a:solidFill>
              <a:srgbClr val="2A9D8F"/>
            </a:solidFill>
            <a:prstDash val="solid"/>
          </a:ln>
        </p:spPr>
      </p:sp>
      <p:sp>
        <p:nvSpPr>
          <p:cNvPr id="13" name="Text 10"/>
          <p:cNvSpPr/>
          <p:nvPr/>
        </p:nvSpPr>
        <p:spPr>
          <a:xfrm>
            <a:off x="8549640" y="2697480"/>
            <a:ext cx="2560320" cy="347472"/>
          </a:xfrm>
          <a:prstGeom prst="rect">
            <a:avLst/>
          </a:prstGeom>
          <a:noFill/>
          <a:ln/>
        </p:spPr>
        <p:txBody>
          <a:bodyPr wrap="square" lIns="0" tIns="0" rIns="0" bIns="0" rtlCol="0" anchor="ctr">
            <a:normAutofit/>
          </a:bodyPr>
          <a:lstStyle/>
          <a:p>
            <a:pPr indent="0" marL="0">
              <a:buNone/>
            </a:pPr>
            <a:r>
              <a:rPr lang="en-US" sz="2200" b="1" dirty="0">
                <a:solidFill>
                  <a:srgbClr val="D17A22"/>
                </a:solidFill>
                <a:latin typeface="Aptos Display" pitchFamily="34" charset="0"/>
                <a:ea typeface="Aptos Display" pitchFamily="34" charset="-122"/>
                <a:cs typeface="Aptos Display" pitchFamily="34" charset="-120"/>
              </a:rPr>
              <a:t>22,125%</a:t>
            </a:r>
            <a:endParaRPr lang="en-US" sz="2200" dirty="0"/>
          </a:p>
        </p:txBody>
      </p:sp>
      <p:sp>
        <p:nvSpPr>
          <p:cNvPr id="14" name="Text 11"/>
          <p:cNvSpPr/>
          <p:nvPr/>
        </p:nvSpPr>
        <p:spPr>
          <a:xfrm>
            <a:off x="8549640" y="3108960"/>
            <a:ext cx="256032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cobertura financiera de Movies</a:t>
            </a:r>
            <a:endParaRPr lang="en-US" sz="1060" dirty="0"/>
          </a:p>
        </p:txBody>
      </p:sp>
      <p:sp>
        <p:nvSpPr>
          <p:cNvPr id="15" name="Shape 12"/>
          <p:cNvSpPr/>
          <p:nvPr/>
        </p:nvSpPr>
        <p:spPr>
          <a:xfrm>
            <a:off x="8549640" y="3547872"/>
            <a:ext cx="1920240" cy="0"/>
          </a:xfrm>
          <a:prstGeom prst="line">
            <a:avLst/>
          </a:prstGeom>
          <a:noFill/>
          <a:ln w="17780">
            <a:solidFill>
              <a:srgbClr val="D17A22"/>
            </a:solidFill>
            <a:prstDash val="solid"/>
          </a:ln>
        </p:spPr>
      </p:sp>
      <p:sp>
        <p:nvSpPr>
          <p:cNvPr id="16" name="Text 13"/>
          <p:cNvSpPr/>
          <p:nvPr/>
        </p:nvSpPr>
        <p:spPr>
          <a:xfrm>
            <a:off x="8549640" y="3886200"/>
            <a:ext cx="2560320" cy="347472"/>
          </a:xfrm>
          <a:prstGeom prst="rect">
            <a:avLst/>
          </a:prstGeom>
          <a:noFill/>
          <a:ln/>
        </p:spPr>
        <p:txBody>
          <a:bodyPr wrap="square" lIns="0" tIns="0" rIns="0" bIns="0" rtlCol="0" anchor="ctr">
            <a:normAutofit/>
          </a:bodyPr>
          <a:lstStyle/>
          <a:p>
            <a:pPr indent="0" marL="0">
              <a:buNone/>
            </a:pPr>
            <a:r>
              <a:rPr lang="en-US" sz="2200" b="1" dirty="0">
                <a:solidFill>
                  <a:srgbClr val="2F6690"/>
                </a:solidFill>
                <a:latin typeface="Aptos Display" pitchFamily="34" charset="0"/>
                <a:ea typeface="Aptos Display" pitchFamily="34" charset="-122"/>
                <a:cs typeface="Aptos Display" pitchFamily="34" charset="-120"/>
              </a:rPr>
              <a:t>0,710</a:t>
            </a:r>
            <a:endParaRPr lang="en-US" sz="2200" dirty="0"/>
          </a:p>
        </p:txBody>
      </p:sp>
      <p:sp>
        <p:nvSpPr>
          <p:cNvPr id="17" name="Text 14"/>
          <p:cNvSpPr/>
          <p:nvPr/>
        </p:nvSpPr>
        <p:spPr>
          <a:xfrm>
            <a:off x="8549640" y="4297680"/>
            <a:ext cx="2560320" cy="365760"/>
          </a:xfrm>
          <a:prstGeom prst="rect">
            <a:avLst/>
          </a:prstGeom>
          <a:noFill/>
          <a:ln/>
        </p:spPr>
        <p:txBody>
          <a:bodyPr wrap="square" lIns="0" tIns="0" rIns="0" bIns="0" rtlCol="0" anchor="ctr">
            <a:normAutofit/>
          </a:bodyPr>
          <a:lstStyle/>
          <a:p>
            <a:pPr indent="0" marL="0">
              <a:buNone/>
            </a:pPr>
            <a:r>
              <a:rPr lang="en-US" sz="1060" dirty="0">
                <a:solidFill>
                  <a:srgbClr val="64748B"/>
                </a:solidFill>
              </a:rPr>
              <a:t>Spearman budget–revenue</a:t>
            </a:r>
            <a:endParaRPr lang="en-US" sz="1060" dirty="0"/>
          </a:p>
        </p:txBody>
      </p:sp>
      <p:sp>
        <p:nvSpPr>
          <p:cNvPr id="18" name="Shape 15"/>
          <p:cNvSpPr/>
          <p:nvPr/>
        </p:nvSpPr>
        <p:spPr>
          <a:xfrm>
            <a:off x="8549640" y="4736592"/>
            <a:ext cx="1920240" cy="0"/>
          </a:xfrm>
          <a:prstGeom prst="line">
            <a:avLst/>
          </a:prstGeom>
          <a:noFill/>
          <a:ln w="17780">
            <a:solidFill>
              <a:srgbClr val="2F6690"/>
            </a:solidFill>
            <a:prstDash val="solid"/>
          </a:ln>
        </p:spPr>
      </p:sp>
      <p:sp>
        <p:nvSpPr>
          <p:cNvPr id="19" name="Text 16"/>
          <p:cNvSpPr/>
          <p:nvPr/>
        </p:nvSpPr>
        <p:spPr>
          <a:xfrm>
            <a:off x="8549640" y="5349240"/>
            <a:ext cx="2377440" cy="228600"/>
          </a:xfrm>
          <a:prstGeom prst="rect">
            <a:avLst/>
          </a:prstGeom>
          <a:noFill/>
          <a:ln/>
        </p:spPr>
        <p:txBody>
          <a:bodyPr wrap="square" lIns="254" tIns="254" rIns="254" bIns="254" rtlCol="0" anchor="t">
            <a:normAutofit/>
          </a:bodyPr>
          <a:lstStyle/>
          <a:p>
            <a:pPr indent="0" marL="0">
              <a:buNone/>
            </a:pPr>
            <a:r>
              <a:rPr lang="en-US" sz="1140" b="1" dirty="0">
                <a:solidFill>
                  <a:srgbClr val="64748B"/>
                </a:solidFill>
                <a:latin typeface="Aptos" pitchFamily="34" charset="0"/>
                <a:ea typeface="Aptos" pitchFamily="34" charset="-122"/>
                <a:cs typeface="Aptos" pitchFamily="34" charset="-120"/>
              </a:rPr>
              <a:t>Asociación no implica causalidad.</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III · INGRESOS Y ROI</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Ingreso absoluto y retorno no priorizan los mismos contenidos</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14 · Ignacio</a:t>
            </a:r>
            <a:endParaRPr lang="en-US" sz="750" dirty="0"/>
          </a:p>
        </p:txBody>
      </p:sp>
      <p:pic>
        <p:nvPicPr>
          <p:cNvPr id="9" name="Image 0" descr="/mnt/data/streamview_assets/charts/10_top_ingresos.png">    </p:cNvPr>
          <p:cNvPicPr>
            <a:picLocks noChangeAspect="1"/>
          </p:cNvPicPr>
          <p:nvPr/>
        </p:nvPicPr>
        <p:blipFill>
          <a:blip r:embed="rId1"/>
          <a:stretch>
            <a:fillRect/>
          </a:stretch>
        </p:blipFill>
        <p:spPr>
          <a:xfrm>
            <a:off x="566928" y="2280741"/>
            <a:ext cx="5120640" cy="2936597"/>
          </a:xfrm>
          <a:prstGeom prst="rect">
            <a:avLst/>
          </a:prstGeom>
        </p:spPr>
      </p:pic>
      <p:pic>
        <p:nvPicPr>
          <p:cNvPr id="10" name="Image 1" descr="/mnt/data/streamview_assets/charts/11_top_roi.png">    </p:cNvPr>
          <p:cNvPicPr>
            <a:picLocks noChangeAspect="1"/>
          </p:cNvPicPr>
          <p:nvPr/>
        </p:nvPicPr>
        <p:blipFill>
          <a:blip r:embed="rId2"/>
          <a:stretch>
            <a:fillRect/>
          </a:stretch>
        </p:blipFill>
        <p:spPr>
          <a:xfrm>
            <a:off x="6080760" y="2379939"/>
            <a:ext cx="5303520" cy="2738203"/>
          </a:xfrm>
          <a:prstGeom prst="rect">
            <a:avLst/>
          </a:prstGeom>
        </p:spPr>
      </p:pic>
      <p:sp>
        <p:nvSpPr>
          <p:cNvPr id="11" name="Text 7"/>
          <p:cNvSpPr/>
          <p:nvPr/>
        </p:nvSpPr>
        <p:spPr>
          <a:xfrm>
            <a:off x="658368" y="6382512"/>
            <a:ext cx="8229600" cy="228600"/>
          </a:xfrm>
          <a:prstGeom prst="rect">
            <a:avLst/>
          </a:prstGeom>
          <a:noFill/>
          <a:ln/>
        </p:spPr>
        <p:txBody>
          <a:bodyPr wrap="square" lIns="254" tIns="254" rIns="254" bIns="254" rtlCol="0" anchor="t">
            <a:normAutofit/>
          </a:bodyPr>
          <a:lstStyle/>
          <a:p>
            <a:pPr indent="0" marL="0">
              <a:buNone/>
            </a:pPr>
            <a:r>
              <a:rPr lang="en-US" sz="1140" b="1" dirty="0">
                <a:solidFill>
                  <a:srgbClr val="64748B"/>
                </a:solidFill>
                <a:latin typeface="Aptos" pitchFamily="34" charset="0"/>
                <a:ea typeface="Aptos" pitchFamily="34" charset="-122"/>
                <a:cs typeface="Aptos" pitchFamily="34" charset="-120"/>
              </a:rPr>
              <a:t>ROI = revenue / budget. Leer junto con presupuesto e ingresos para evitar rankings engañosos.</a:t>
            </a:r>
            <a:endParaRPr lang="en-US" sz="11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III · OPORTUNIDADES</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De describir a priorizar: 295 películas para revisión</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15 · Ignacio</a:t>
            </a:r>
            <a:endParaRPr lang="en-US" sz="750" dirty="0"/>
          </a:p>
        </p:txBody>
      </p:sp>
      <p:pic>
        <p:nvPicPr>
          <p:cNvPr id="9" name="Image 0" descr="/mnt/data/streamview_assets/charts/12_bajo_presupuesto_alto_retorno.png">    </p:cNvPr>
          <p:cNvPicPr>
            <a:picLocks noChangeAspect="1"/>
          </p:cNvPicPr>
          <p:nvPr/>
        </p:nvPicPr>
        <p:blipFill>
          <a:blip r:embed="rId1"/>
          <a:stretch>
            <a:fillRect/>
          </a:stretch>
        </p:blipFill>
        <p:spPr>
          <a:xfrm>
            <a:off x="566928" y="1493483"/>
            <a:ext cx="7818120" cy="4648273"/>
          </a:xfrm>
          <a:prstGeom prst="rect">
            <a:avLst/>
          </a:prstGeom>
        </p:spPr>
      </p:pic>
      <p:sp>
        <p:nvSpPr>
          <p:cNvPr id="10" name="Text 7"/>
          <p:cNvSpPr/>
          <p:nvPr/>
        </p:nvSpPr>
        <p:spPr>
          <a:xfrm>
            <a:off x="8641080" y="1417320"/>
            <a:ext cx="2560320" cy="841248"/>
          </a:xfrm>
          <a:prstGeom prst="rect">
            <a:avLst/>
          </a:prstGeom>
          <a:noFill/>
          <a:ln/>
        </p:spPr>
        <p:txBody>
          <a:bodyPr wrap="square" lIns="127" tIns="127" rIns="127" bIns="127" rtlCol="0" anchor="ctr">
            <a:normAutofit/>
          </a:bodyPr>
          <a:lstStyle/>
          <a:p>
            <a:pPr indent="0" marL="0">
              <a:buNone/>
            </a:pPr>
            <a:r>
              <a:rPr lang="en-US" sz="2400" b="1" dirty="0">
                <a:solidFill>
                  <a:srgbClr val="0F172A"/>
                </a:solidFill>
                <a:latin typeface="Aptos Display" pitchFamily="34" charset="0"/>
                <a:ea typeface="Aptos Display" pitchFamily="34" charset="-122"/>
                <a:cs typeface="Aptos Display" pitchFamily="34" charset="-120"/>
              </a:rPr>
              <a:t>Criterio basado en la distribución, no en umbrales arbitrarios.</a:t>
            </a:r>
            <a:endParaRPr lang="en-US" sz="2400" dirty="0"/>
          </a:p>
        </p:txBody>
      </p:sp>
      <p:sp>
        <p:nvSpPr>
          <p:cNvPr id="11" name="Text 8"/>
          <p:cNvSpPr/>
          <p:nvPr/>
        </p:nvSpPr>
        <p:spPr>
          <a:xfrm>
            <a:off x="8641080" y="2788920"/>
            <a:ext cx="2560320" cy="914400"/>
          </a:xfrm>
          <a:prstGeom prst="rect">
            <a:avLst/>
          </a:prstGeom>
          <a:noFill/>
          <a:ln/>
        </p:spPr>
        <p:txBody>
          <a:bodyPr wrap="square" lIns="254" tIns="254" rIns="254" bIns="254" rtlCol="0" anchor="t">
            <a:normAutofit/>
          </a:bodyPr>
          <a:lstStyle/>
          <a:p>
            <a:pPr indent="0" marL="0">
              <a:buNone/>
            </a:pPr>
            <a:r>
              <a:rPr lang="en-US" sz="1420" b="1" dirty="0">
                <a:solidFill>
                  <a:srgbClr val="0F172A"/>
                </a:solidFill>
                <a:latin typeface="Aptos" pitchFamily="34" charset="0"/>
                <a:ea typeface="Aptos" pitchFamily="34" charset="-122"/>
                <a:cs typeface="Aptos" pitchFamily="34" charset="-120"/>
              </a:rPr>
              <a:t>Bajo presupuesto: hasta P25.</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Alto retorno: desde P75.</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Intersección: 295 películas.</a:t>
            </a:r>
            <a:endParaRPr lang="en-US" sz="1420" dirty="0"/>
          </a:p>
        </p:txBody>
      </p:sp>
      <p:sp>
        <p:nvSpPr>
          <p:cNvPr id="12" name="Text 9"/>
          <p:cNvSpPr/>
          <p:nvPr/>
        </p:nvSpPr>
        <p:spPr>
          <a:xfrm>
            <a:off x="8641080" y="4572000"/>
            <a:ext cx="2423160" cy="594360"/>
          </a:xfrm>
          <a:prstGeom prst="rect">
            <a:avLst/>
          </a:prstGeom>
          <a:noFill/>
          <a:ln/>
        </p:spPr>
        <p:txBody>
          <a:bodyPr wrap="square" lIns="254" tIns="254" rIns="254" bIns="254" rtlCol="0" anchor="t">
            <a:normAutofit/>
          </a:bodyPr>
          <a:lstStyle/>
          <a:p>
            <a:pPr indent="0" marL="0">
              <a:buNone/>
            </a:pPr>
            <a:r>
              <a:rPr lang="en-US" sz="1250" dirty="0">
                <a:solidFill>
                  <a:srgbClr val="64748B"/>
                </a:solidFill>
                <a:latin typeface="Aptos" pitchFamily="34" charset="0"/>
                <a:ea typeface="Aptos" pitchFamily="34" charset="-122"/>
                <a:cs typeface="Aptos" pitchFamily="34" charset="-120"/>
              </a:rPr>
              <a:t>Uso: priorizar evaluación editorial y financiera, no garantizar éxito futuro.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2F6690"/>
          </a:solidFill>
          <a:ln w="12700">
            <a:solidFill>
              <a:srgbClr val="2F6690">
                <a:alpha val="0"/>
              </a:srgbClr>
            </a:solidFill>
            <a:prstDash val="solid"/>
          </a:ln>
        </p:spPr>
      </p:sp>
      <p:sp>
        <p:nvSpPr>
          <p:cNvPr id="3" name="Shape 1"/>
          <p:cNvSpPr/>
          <p:nvPr/>
        </p:nvSpPr>
        <p:spPr>
          <a:xfrm>
            <a:off x="128016" y="0"/>
            <a:ext cx="45720" cy="6858000"/>
          </a:xfrm>
          <a:prstGeom prst="rect">
            <a:avLst/>
          </a:prstGeom>
          <a:solidFill>
            <a:srgbClr val="D17A22"/>
          </a:solidFill>
          <a:ln w="12700">
            <a:solidFill>
              <a:srgbClr val="D17A22">
                <a:alpha val="0"/>
              </a:srgbClr>
            </a:solidFill>
            <a:prstDash val="solid"/>
          </a:ln>
        </p:spPr>
      </p:sp>
      <p:sp>
        <p:nvSpPr>
          <p:cNvPr id="4" name="Text 2"/>
          <p:cNvSpPr/>
          <p:nvPr/>
        </p:nvSpPr>
        <p:spPr>
          <a:xfrm>
            <a:off x="512064" y="219456"/>
            <a:ext cx="7132320" cy="201168"/>
          </a:xfrm>
          <a:prstGeom prst="rect">
            <a:avLst/>
          </a:prstGeom>
          <a:noFill/>
          <a:ln/>
        </p:spPr>
        <p:txBody>
          <a:bodyPr wrap="square" lIns="0" tIns="0" rIns="0" bIns="0" rtlCol="0" anchor="ctr"/>
          <a:lstStyle/>
          <a:p>
            <a:pPr indent="0" marL="0">
              <a:buNone/>
            </a:pPr>
            <a:r>
              <a:rPr lang="en-US" sz="850" b="1" dirty="0">
                <a:solidFill>
                  <a:srgbClr val="64748B"/>
                </a:solidFill>
                <a:latin typeface="Aptos" pitchFamily="34" charset="0"/>
                <a:ea typeface="Aptos" pitchFamily="34" charset="-122"/>
                <a:cs typeface="Aptos" pitchFamily="34" charset="-120"/>
              </a:rPr>
              <a:t>ACTO III · EVALUACIÓN CRÍTICA</a:t>
            </a:r>
            <a:endParaRPr lang="en-US" sz="850" dirty="0"/>
          </a:p>
        </p:txBody>
      </p:sp>
      <p:sp>
        <p:nvSpPr>
          <p:cNvPr id="5" name="Text 3"/>
          <p:cNvSpPr/>
          <p:nvPr/>
        </p:nvSpPr>
        <p:spPr>
          <a:xfrm>
            <a:off x="512064" y="530352"/>
            <a:ext cx="9966960" cy="512064"/>
          </a:xfrm>
          <a:prstGeom prst="rect">
            <a:avLst/>
          </a:prstGeom>
          <a:noFill/>
          <a:ln/>
        </p:spPr>
        <p:txBody>
          <a:bodyPr wrap="square" lIns="127" tIns="127" rIns="127" bIns="127" rtlCol="0" anchor="ctr">
            <a:normAutofit/>
          </a:bodyPr>
          <a:lstStyle/>
          <a:p>
            <a:pPr indent="0" marL="0">
              <a:buNone/>
            </a:pPr>
            <a:r>
              <a:rPr lang="en-US" sz="2250" b="1" dirty="0">
                <a:solidFill>
                  <a:srgbClr val="0F172A"/>
                </a:solidFill>
                <a:latin typeface="Aptos Display" pitchFamily="34" charset="0"/>
                <a:ea typeface="Aptos Display" pitchFamily="34" charset="-122"/>
                <a:cs typeface="Aptos Display" pitchFamily="34" charset="-120"/>
              </a:rPr>
              <a:t>Lo que nuestros datos pueden decir... y lo que no</a:t>
            </a:r>
            <a:endParaRPr lang="en-US" sz="2250" dirty="0"/>
          </a:p>
        </p:txBody>
      </p:sp>
      <p:sp>
        <p:nvSpPr>
          <p:cNvPr id="6" name="Text 4"/>
          <p:cNvSpPr/>
          <p:nvPr/>
        </p:nvSpPr>
        <p:spPr>
          <a:xfrm>
            <a:off x="10698480" y="219456"/>
            <a:ext cx="960120" cy="201168"/>
          </a:xfrm>
          <a:prstGeom prst="rect">
            <a:avLst/>
          </a:prstGeom>
          <a:noFill/>
          <a:ln/>
        </p:spPr>
        <p:txBody>
          <a:bodyPr wrap="square" lIns="0" tIns="0" rIns="0" bIns="0" rtlCol="0" anchor="ctr"/>
          <a:lstStyle/>
          <a:p>
            <a:pPr algn="r" indent="0" marL="0">
              <a:buNone/>
            </a:pPr>
            <a:r>
              <a:rPr lang="en-US" sz="1250" b="1" dirty="0">
                <a:solidFill>
                  <a:srgbClr val="0F172A"/>
                </a:solidFill>
                <a:latin typeface="Aptos Display" pitchFamily="34" charset="0"/>
                <a:ea typeface="Aptos Display" pitchFamily="34" charset="-122"/>
                <a:cs typeface="Aptos Display" pitchFamily="34" charset="-120"/>
              </a:rPr>
              <a:t>DuocUC</a:t>
            </a:r>
            <a:endParaRPr lang="en-US" sz="1250" dirty="0"/>
          </a:p>
        </p:txBody>
      </p:sp>
      <p:sp>
        <p:nvSpPr>
          <p:cNvPr id="7" name="Shape 5"/>
          <p:cNvSpPr/>
          <p:nvPr/>
        </p:nvSpPr>
        <p:spPr>
          <a:xfrm>
            <a:off x="512064" y="1124712"/>
            <a:ext cx="11064240" cy="0"/>
          </a:xfrm>
          <a:prstGeom prst="line">
            <a:avLst/>
          </a:prstGeom>
          <a:noFill/>
          <a:ln w="12700">
            <a:solidFill>
              <a:srgbClr val="E2E8F0"/>
            </a:solidFill>
            <a:prstDash val="solid"/>
          </a:ln>
        </p:spPr>
      </p:sp>
      <p:sp>
        <p:nvSpPr>
          <p:cNvPr id="8" name="Text 6"/>
          <p:cNvSpPr/>
          <p:nvPr/>
        </p:nvSpPr>
        <p:spPr>
          <a:xfrm>
            <a:off x="9464040" y="6382512"/>
            <a:ext cx="2103120" cy="164592"/>
          </a:xfrm>
          <a:prstGeom prst="rect">
            <a:avLst/>
          </a:prstGeom>
          <a:noFill/>
          <a:ln/>
        </p:spPr>
        <p:txBody>
          <a:bodyPr wrap="square" lIns="0" tIns="0" rIns="0" bIns="0" rtlCol="0" anchor="ctr"/>
          <a:lstStyle/>
          <a:p>
            <a:pPr algn="r" indent="0" marL="0">
              <a:buNone/>
            </a:pPr>
            <a:r>
              <a:rPr lang="en-US" sz="750" dirty="0">
                <a:solidFill>
                  <a:srgbClr val="64748B"/>
                </a:solidFill>
              </a:rPr>
              <a:t>16 · Ignacio</a:t>
            </a:r>
            <a:endParaRPr lang="en-US" sz="750" dirty="0"/>
          </a:p>
        </p:txBody>
      </p:sp>
      <p:sp>
        <p:nvSpPr>
          <p:cNvPr id="9" name="Shape 7"/>
          <p:cNvSpPr/>
          <p:nvPr/>
        </p:nvSpPr>
        <p:spPr>
          <a:xfrm>
            <a:off x="658368" y="1508760"/>
            <a:ext cx="457200" cy="0"/>
          </a:xfrm>
          <a:prstGeom prst="line">
            <a:avLst/>
          </a:prstGeom>
          <a:noFill/>
          <a:ln w="30480">
            <a:solidFill>
              <a:srgbClr val="2A9D8F"/>
            </a:solidFill>
            <a:prstDash val="solid"/>
          </a:ln>
        </p:spPr>
      </p:sp>
      <p:sp>
        <p:nvSpPr>
          <p:cNvPr id="10" name="Text 8"/>
          <p:cNvSpPr/>
          <p:nvPr/>
        </p:nvSpPr>
        <p:spPr>
          <a:xfrm>
            <a:off x="1225296" y="14173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FORTALEZAS</a:t>
            </a:r>
            <a:endParaRPr lang="en-US" sz="1100" dirty="0"/>
          </a:p>
        </p:txBody>
      </p:sp>
      <p:sp>
        <p:nvSpPr>
          <p:cNvPr id="11" name="Text 9"/>
          <p:cNvSpPr/>
          <p:nvPr/>
        </p:nvSpPr>
        <p:spPr>
          <a:xfrm>
            <a:off x="685800" y="1874520"/>
            <a:ext cx="3017520" cy="1097280"/>
          </a:xfrm>
          <a:prstGeom prst="rect">
            <a:avLst/>
          </a:prstGeom>
          <a:noFill/>
          <a:ln/>
        </p:spPr>
        <p:txBody>
          <a:bodyPr wrap="square" lIns="254" tIns="254" rIns="254" bIns="254" rtlCol="0" anchor="t">
            <a:normAutofit/>
          </a:bodyPr>
          <a:lstStyle/>
          <a:p>
            <a:pPr indent="0" marL="0">
              <a:buNone/>
            </a:pPr>
            <a:r>
              <a:rPr lang="en-US" sz="1420" b="1" dirty="0">
                <a:solidFill>
                  <a:srgbClr val="0F172A"/>
                </a:solidFill>
                <a:latin typeface="Aptos" pitchFamily="34" charset="0"/>
                <a:ea typeface="Aptos" pitchFamily="34" charset="-122"/>
                <a:cs typeface="Aptos" pitchFamily="34" charset="-120"/>
              </a:rPr>
              <a:t>Flujo reproducible</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Vistas específicas por pregunta</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Gráficos orientados a hallazgos</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Trazabilidad desde RAW</a:t>
            </a:r>
            <a:endParaRPr lang="en-US" sz="1420" dirty="0"/>
          </a:p>
        </p:txBody>
      </p:sp>
      <p:sp>
        <p:nvSpPr>
          <p:cNvPr id="12" name="Shape 10"/>
          <p:cNvSpPr/>
          <p:nvPr/>
        </p:nvSpPr>
        <p:spPr>
          <a:xfrm>
            <a:off x="3977640" y="1508760"/>
            <a:ext cx="457200" cy="0"/>
          </a:xfrm>
          <a:prstGeom prst="line">
            <a:avLst/>
          </a:prstGeom>
          <a:noFill/>
          <a:ln w="30480">
            <a:solidFill>
              <a:srgbClr val="B4554C"/>
            </a:solidFill>
            <a:prstDash val="solid"/>
          </a:ln>
        </p:spPr>
      </p:sp>
      <p:sp>
        <p:nvSpPr>
          <p:cNvPr id="13" name="Text 11"/>
          <p:cNvSpPr/>
          <p:nvPr/>
        </p:nvSpPr>
        <p:spPr>
          <a:xfrm>
            <a:off x="4544568" y="14173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LIMITACIONES</a:t>
            </a:r>
            <a:endParaRPr lang="en-US" sz="1100" dirty="0"/>
          </a:p>
        </p:txBody>
      </p:sp>
      <p:sp>
        <p:nvSpPr>
          <p:cNvPr id="14" name="Text 12"/>
          <p:cNvSpPr/>
          <p:nvPr/>
        </p:nvSpPr>
        <p:spPr>
          <a:xfrm>
            <a:off x="4005072" y="1874520"/>
            <a:ext cx="3246120" cy="1325880"/>
          </a:xfrm>
          <a:prstGeom prst="rect">
            <a:avLst/>
          </a:prstGeom>
          <a:noFill/>
          <a:ln/>
        </p:spPr>
        <p:txBody>
          <a:bodyPr wrap="square" lIns="254" tIns="254" rIns="254" bIns="254" rtlCol="0" anchor="t">
            <a:normAutofit/>
          </a:bodyPr>
          <a:lstStyle/>
          <a:p>
            <a:pPr indent="0" marL="0">
              <a:buNone/>
            </a:pPr>
            <a:r>
              <a:rPr lang="en-US" sz="1340" b="1" dirty="0">
                <a:solidFill>
                  <a:srgbClr val="0F172A"/>
                </a:solidFill>
                <a:latin typeface="Aptos" pitchFamily="34" charset="0"/>
                <a:ea typeface="Aptos" pitchFamily="34" charset="-122"/>
                <a:cs typeface="Aptos" pitchFamily="34" charset="-120"/>
              </a:rPr>
              <a:t>Finanzas solo para 22,125% de Movies</a:t>
            </a:r>
            <a:endParaRPr lang="en-US" sz="1340" dirty="0"/>
          </a:p>
          <a:p>
            <a:pPr indent="0" marL="0">
              <a:buNone/>
            </a:pPr>
            <a:r>
              <a:rPr lang="en-US" sz="1340" b="1" dirty="0">
                <a:solidFill>
                  <a:srgbClr val="0F172A"/>
                </a:solidFill>
                <a:latin typeface="Aptos" pitchFamily="34" charset="0"/>
                <a:ea typeface="Aptos" pitchFamily="34" charset="-122"/>
                <a:cs typeface="Aptos" pitchFamily="34" charset="-120"/>
              </a:rPr>
              <a:t>rating no sirve como clasificación etaria</a:t>
            </a:r>
            <a:endParaRPr lang="en-US" sz="1340" dirty="0"/>
          </a:p>
          <a:p>
            <a:pPr indent="0" marL="0">
              <a:buNone/>
            </a:pPr>
            <a:r>
              <a:rPr lang="en-US" sz="1340" b="1" dirty="0">
                <a:solidFill>
                  <a:srgbClr val="0F172A"/>
                </a:solidFill>
                <a:latin typeface="Aptos" pitchFamily="34" charset="0"/>
                <a:ea typeface="Aptos" pitchFamily="34" charset="-122"/>
                <a:cs typeface="Aptos" pitchFamily="34" charset="-120"/>
              </a:rPr>
              <a:t>popularity no equivale a reproducciones</a:t>
            </a:r>
            <a:endParaRPr lang="en-US" sz="1340" dirty="0"/>
          </a:p>
          <a:p>
            <a:pPr indent="0" marL="0">
              <a:buNone/>
            </a:pPr>
            <a:r>
              <a:rPr lang="en-US" sz="1340" b="1" dirty="0">
                <a:solidFill>
                  <a:srgbClr val="0F172A"/>
                </a:solidFill>
                <a:latin typeface="Aptos" pitchFamily="34" charset="0"/>
                <a:ea typeface="Aptos" pitchFamily="34" charset="-122"/>
                <a:cs typeface="Aptos" pitchFamily="34" charset="-120"/>
              </a:rPr>
              <a:t>2025 tiene menor cobertura de valoración</a:t>
            </a:r>
            <a:endParaRPr lang="en-US" sz="1340" dirty="0"/>
          </a:p>
        </p:txBody>
      </p:sp>
      <p:sp>
        <p:nvSpPr>
          <p:cNvPr id="15" name="Shape 13"/>
          <p:cNvSpPr/>
          <p:nvPr/>
        </p:nvSpPr>
        <p:spPr>
          <a:xfrm>
            <a:off x="7818120" y="1508760"/>
            <a:ext cx="457200" cy="0"/>
          </a:xfrm>
          <a:prstGeom prst="line">
            <a:avLst/>
          </a:prstGeom>
          <a:noFill/>
          <a:ln w="30480">
            <a:solidFill>
              <a:srgbClr val="2F6690"/>
            </a:solidFill>
            <a:prstDash val="solid"/>
          </a:ln>
        </p:spPr>
      </p:sp>
      <p:sp>
        <p:nvSpPr>
          <p:cNvPr id="16" name="Text 14"/>
          <p:cNvSpPr/>
          <p:nvPr/>
        </p:nvSpPr>
        <p:spPr>
          <a:xfrm>
            <a:off x="8385048" y="1417320"/>
            <a:ext cx="2743200" cy="228600"/>
          </a:xfrm>
          <a:prstGeom prst="rect">
            <a:avLst/>
          </a:prstGeom>
          <a:noFill/>
          <a:ln/>
        </p:spPr>
        <p:txBody>
          <a:bodyPr wrap="square" lIns="0" tIns="0" rIns="0" bIns="0" rtlCol="0" anchor="ctr">
            <a:normAutofit/>
          </a:bodyPr>
          <a:lstStyle/>
          <a:p>
            <a:pPr indent="0" marL="0">
              <a:buNone/>
            </a:pPr>
            <a:r>
              <a:rPr lang="en-US" sz="1100" b="1" dirty="0">
                <a:solidFill>
                  <a:srgbClr val="64748B"/>
                </a:solidFill>
              </a:rPr>
              <a:t>MEJORAS</a:t>
            </a:r>
            <a:endParaRPr lang="en-US" sz="1100" dirty="0"/>
          </a:p>
        </p:txBody>
      </p:sp>
      <p:sp>
        <p:nvSpPr>
          <p:cNvPr id="17" name="Text 15"/>
          <p:cNvSpPr/>
          <p:nvPr/>
        </p:nvSpPr>
        <p:spPr>
          <a:xfrm>
            <a:off x="7845552" y="1874520"/>
            <a:ext cx="3108960" cy="1097280"/>
          </a:xfrm>
          <a:prstGeom prst="rect">
            <a:avLst/>
          </a:prstGeom>
          <a:noFill/>
          <a:ln/>
        </p:spPr>
        <p:txBody>
          <a:bodyPr wrap="square" lIns="254" tIns="254" rIns="254" bIns="254" rtlCol="0" anchor="t">
            <a:normAutofit/>
          </a:bodyPr>
          <a:lstStyle/>
          <a:p>
            <a:pPr indent="0" marL="0">
              <a:buNone/>
            </a:pPr>
            <a:r>
              <a:rPr lang="en-US" sz="1420" b="1" dirty="0">
                <a:solidFill>
                  <a:srgbClr val="0F172A"/>
                </a:solidFill>
                <a:latin typeface="Aptos" pitchFamily="34" charset="0"/>
                <a:ea typeface="Aptos" pitchFamily="34" charset="-122"/>
                <a:cs typeface="Aptos" pitchFamily="34" charset="-120"/>
              </a:rPr>
              <a:t>Dashboard funcional completo</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Mayor cobertura financiera</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Variables reales de consumo</a:t>
            </a:r>
            <a:endParaRPr lang="en-US" sz="1420" dirty="0"/>
          </a:p>
          <a:p>
            <a:pPr indent="0" marL="0">
              <a:buNone/>
            </a:pPr>
            <a:r>
              <a:rPr lang="en-US" sz="1420" b="1" dirty="0">
                <a:solidFill>
                  <a:srgbClr val="0F172A"/>
                </a:solidFill>
                <a:latin typeface="Aptos" pitchFamily="34" charset="0"/>
                <a:ea typeface="Aptos" pitchFamily="34" charset="-122"/>
                <a:cs typeface="Aptos" pitchFamily="34" charset="-120"/>
              </a:rPr>
              <a:t>Validación con usuarios ejecutivos</a:t>
            </a:r>
            <a:endParaRPr lang="en-US" sz="1420" dirty="0"/>
          </a:p>
        </p:txBody>
      </p:sp>
      <p:sp>
        <p:nvSpPr>
          <p:cNvPr id="18" name="Shape 16"/>
          <p:cNvSpPr/>
          <p:nvPr/>
        </p:nvSpPr>
        <p:spPr>
          <a:xfrm>
            <a:off x="685800" y="4251960"/>
            <a:ext cx="9966960" cy="0"/>
          </a:xfrm>
          <a:prstGeom prst="line">
            <a:avLst/>
          </a:prstGeom>
          <a:noFill/>
          <a:ln w="12700">
            <a:solidFill>
              <a:srgbClr val="E2E8F0"/>
            </a:solidFill>
            <a:prstDash val="solid"/>
          </a:ln>
        </p:spPr>
      </p:sp>
      <p:sp>
        <p:nvSpPr>
          <p:cNvPr id="19" name="Text 17"/>
          <p:cNvSpPr/>
          <p:nvPr/>
        </p:nvSpPr>
        <p:spPr>
          <a:xfrm>
            <a:off x="685800" y="4709160"/>
            <a:ext cx="9418320" cy="530352"/>
          </a:xfrm>
          <a:prstGeom prst="rect">
            <a:avLst/>
          </a:prstGeom>
          <a:noFill/>
          <a:ln/>
        </p:spPr>
        <p:txBody>
          <a:bodyPr wrap="square" lIns="127" tIns="127" rIns="127" bIns="127" rtlCol="0" anchor="ctr">
            <a:normAutofit/>
          </a:bodyPr>
          <a:lstStyle/>
          <a:p>
            <a:pPr indent="0" marL="0">
              <a:buNone/>
            </a:pPr>
            <a:r>
              <a:rPr lang="en-US" sz="2400" b="1" dirty="0">
                <a:solidFill>
                  <a:srgbClr val="B4554C"/>
                </a:solidFill>
                <a:latin typeface="Aptos Display" pitchFamily="34" charset="0"/>
                <a:ea typeface="Aptos Display" pitchFamily="34" charset="-122"/>
                <a:cs typeface="Aptos Display" pitchFamily="34" charset="-120"/>
              </a:rPr>
              <a:t>Principio de lectura: describimos la evidencia disponible; no inferimos causalidad.</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D17A22"/>
          </a:solidFill>
          <a:ln w="12700">
            <a:solidFill>
              <a:srgbClr val="D17A22">
                <a:alpha val="0"/>
              </a:srgbClr>
            </a:solidFill>
            <a:prstDash val="solid"/>
          </a:ln>
        </p:spPr>
      </p:sp>
      <p:sp>
        <p:nvSpPr>
          <p:cNvPr id="3" name="Shape 1"/>
          <p:cNvSpPr/>
          <p:nvPr/>
        </p:nvSpPr>
        <p:spPr>
          <a:xfrm>
            <a:off x="128016" y="0"/>
            <a:ext cx="45720" cy="6858000"/>
          </a:xfrm>
          <a:prstGeom prst="rect">
            <a:avLst/>
          </a:prstGeom>
          <a:solidFill>
            <a:srgbClr val="2F6690"/>
          </a:solidFill>
          <a:ln w="12700">
            <a:solidFill>
              <a:srgbClr val="2F6690">
                <a:alpha val="0"/>
              </a:srgbClr>
            </a:solidFill>
            <a:prstDash val="solid"/>
          </a:ln>
        </p:spPr>
      </p:sp>
      <p:sp>
        <p:nvSpPr>
          <p:cNvPr id="4" name="Text 2"/>
          <p:cNvSpPr/>
          <p:nvPr/>
        </p:nvSpPr>
        <p:spPr>
          <a:xfrm>
            <a:off x="658368" y="822960"/>
            <a:ext cx="7498080" cy="411480"/>
          </a:xfrm>
          <a:prstGeom prst="rect">
            <a:avLst/>
          </a:prstGeom>
          <a:noFill/>
          <a:ln/>
        </p:spPr>
        <p:txBody>
          <a:bodyPr wrap="square" lIns="0" tIns="0" rIns="0" bIns="0" rtlCol="0" anchor="ct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Entonces, ¿qué debería hacer StreamView?</a:t>
            </a:r>
            <a:endParaRPr lang="en-US" sz="2600" dirty="0"/>
          </a:p>
        </p:txBody>
      </p:sp>
      <p:sp>
        <p:nvSpPr>
          <p:cNvPr id="5" name="Text 3"/>
          <p:cNvSpPr/>
          <p:nvPr/>
        </p:nvSpPr>
        <p:spPr>
          <a:xfrm>
            <a:off x="685800" y="1417320"/>
            <a:ext cx="4389120" cy="256032"/>
          </a:xfrm>
          <a:prstGeom prst="rect">
            <a:avLst/>
          </a:prstGeom>
          <a:noFill/>
          <a:ln/>
        </p:spPr>
        <p:txBody>
          <a:bodyPr wrap="square" lIns="0" tIns="0" rIns="0" bIns="0" rtlCol="0" anchor="ctr"/>
          <a:lstStyle/>
          <a:p>
            <a:pPr indent="0" marL="0">
              <a:buNone/>
            </a:pPr>
            <a:r>
              <a:rPr lang="en-US" sz="1400" dirty="0">
                <a:solidFill>
                  <a:srgbClr val="CBD5E1"/>
                </a:solidFill>
              </a:rPr>
              <a:t>Tres decisiones respaldadas por evidencia</a:t>
            </a:r>
            <a:endParaRPr lang="en-US" sz="1400" dirty="0"/>
          </a:p>
        </p:txBody>
      </p:sp>
      <p:sp>
        <p:nvSpPr>
          <p:cNvPr id="6" name="Text 4"/>
          <p:cNvSpPr/>
          <p:nvPr/>
        </p:nvSpPr>
        <p:spPr>
          <a:xfrm>
            <a:off x="777240" y="2057400"/>
            <a:ext cx="256032" cy="228600"/>
          </a:xfrm>
          <a:prstGeom prst="rect">
            <a:avLst/>
          </a:prstGeom>
          <a:noFill/>
          <a:ln/>
        </p:spPr>
        <p:txBody>
          <a:bodyPr wrap="square" lIns="0" tIns="0" rIns="0" bIns="0" rtlCol="0" anchor="ctr"/>
          <a:lstStyle/>
          <a:p>
            <a:pPr indent="0" marL="0">
              <a:buNone/>
            </a:pPr>
            <a:r>
              <a:rPr lang="en-US" sz="1700" b="1" dirty="0">
                <a:solidFill>
                  <a:srgbClr val="2F6690"/>
                </a:solidFill>
              </a:rPr>
              <a:t>1</a:t>
            </a:r>
            <a:endParaRPr lang="en-US" sz="1700" dirty="0"/>
          </a:p>
        </p:txBody>
      </p:sp>
      <p:sp>
        <p:nvSpPr>
          <p:cNvPr id="7" name="Text 5"/>
          <p:cNvSpPr/>
          <p:nvPr/>
        </p:nvSpPr>
        <p:spPr>
          <a:xfrm>
            <a:off x="1298448" y="2029968"/>
            <a:ext cx="3108960" cy="274320"/>
          </a:xfrm>
          <a:prstGeom prst="rect">
            <a:avLst/>
          </a:prstGeom>
          <a:noFill/>
          <a:ln/>
        </p:spPr>
        <p:txBody>
          <a:bodyPr wrap="square" lIns="0" tIns="0" rIns="0" bIns="0" rtlCol="0" anchor="ctr"/>
          <a:lstStyle/>
          <a:p>
            <a:pPr indent="0" marL="0">
              <a:buNone/>
            </a:pPr>
            <a:r>
              <a:rPr lang="en-US" sz="1700" b="1" dirty="0">
                <a:solidFill>
                  <a:srgbClr val="FFFFFF"/>
                </a:solidFill>
              </a:rPr>
              <a:t>Evaluar por formato</a:t>
            </a:r>
            <a:endParaRPr lang="en-US" sz="1700" dirty="0"/>
          </a:p>
        </p:txBody>
      </p:sp>
      <p:sp>
        <p:nvSpPr>
          <p:cNvPr id="8" name="Text 6"/>
          <p:cNvSpPr/>
          <p:nvPr/>
        </p:nvSpPr>
        <p:spPr>
          <a:xfrm>
            <a:off x="4663440" y="2075688"/>
            <a:ext cx="5303520" cy="219456"/>
          </a:xfrm>
          <a:prstGeom prst="rect">
            <a:avLst/>
          </a:prstGeom>
          <a:noFill/>
          <a:ln/>
        </p:spPr>
        <p:txBody>
          <a:bodyPr wrap="square" lIns="0" tIns="0" rIns="0" bIns="0" rtlCol="0" anchor="ctr"/>
          <a:lstStyle/>
          <a:p>
            <a:pPr indent="0" marL="0">
              <a:buNone/>
            </a:pPr>
            <a:r>
              <a:rPr lang="en-US" sz="1170" dirty="0">
                <a:solidFill>
                  <a:srgbClr val="CBD5E1"/>
                </a:solidFill>
              </a:rPr>
              <a:t>Movies y TV Shows presentan patrones distintos.</a:t>
            </a:r>
            <a:endParaRPr lang="en-US" sz="1170" dirty="0"/>
          </a:p>
        </p:txBody>
      </p:sp>
      <p:sp>
        <p:nvSpPr>
          <p:cNvPr id="9" name="Text 7"/>
          <p:cNvSpPr/>
          <p:nvPr/>
        </p:nvSpPr>
        <p:spPr>
          <a:xfrm>
            <a:off x="777240" y="3017520"/>
            <a:ext cx="256032" cy="228600"/>
          </a:xfrm>
          <a:prstGeom prst="rect">
            <a:avLst/>
          </a:prstGeom>
          <a:noFill/>
          <a:ln/>
        </p:spPr>
        <p:txBody>
          <a:bodyPr wrap="square" lIns="0" tIns="0" rIns="0" bIns="0" rtlCol="0" anchor="ctr"/>
          <a:lstStyle/>
          <a:p>
            <a:pPr indent="0" marL="0">
              <a:buNone/>
            </a:pPr>
            <a:r>
              <a:rPr lang="en-US" sz="1700" b="1" dirty="0">
                <a:solidFill>
                  <a:srgbClr val="D17A22"/>
                </a:solidFill>
              </a:rPr>
              <a:t>2</a:t>
            </a:r>
            <a:endParaRPr lang="en-US" sz="1700" dirty="0"/>
          </a:p>
        </p:txBody>
      </p:sp>
      <p:sp>
        <p:nvSpPr>
          <p:cNvPr id="10" name="Text 8"/>
          <p:cNvSpPr/>
          <p:nvPr/>
        </p:nvSpPr>
        <p:spPr>
          <a:xfrm>
            <a:off x="1298448" y="2990088"/>
            <a:ext cx="3108960" cy="274320"/>
          </a:xfrm>
          <a:prstGeom prst="rect">
            <a:avLst/>
          </a:prstGeom>
          <a:noFill/>
          <a:ln/>
        </p:spPr>
        <p:txBody>
          <a:bodyPr wrap="square" lIns="0" tIns="0" rIns="0" bIns="0" rtlCol="0" anchor="ctr"/>
          <a:lstStyle/>
          <a:p>
            <a:pPr indent="0" marL="0">
              <a:buNone/>
            </a:pPr>
            <a:r>
              <a:rPr lang="en-US" sz="1700" b="1" dirty="0">
                <a:solidFill>
                  <a:srgbClr val="FFFFFF"/>
                </a:solidFill>
              </a:rPr>
              <a:t>Combinar indicadores</a:t>
            </a:r>
            <a:endParaRPr lang="en-US" sz="1700" dirty="0"/>
          </a:p>
        </p:txBody>
      </p:sp>
      <p:sp>
        <p:nvSpPr>
          <p:cNvPr id="11" name="Text 9"/>
          <p:cNvSpPr/>
          <p:nvPr/>
        </p:nvSpPr>
        <p:spPr>
          <a:xfrm>
            <a:off x="4663440" y="3035808"/>
            <a:ext cx="5303520" cy="219456"/>
          </a:xfrm>
          <a:prstGeom prst="rect">
            <a:avLst/>
          </a:prstGeom>
          <a:noFill/>
          <a:ln/>
        </p:spPr>
        <p:txBody>
          <a:bodyPr wrap="square" lIns="0" tIns="0" rIns="0" bIns="0" rtlCol="0" anchor="ctr"/>
          <a:lstStyle/>
          <a:p>
            <a:pPr indent="0" marL="0">
              <a:buNone/>
            </a:pPr>
            <a:r>
              <a:rPr lang="en-US" sz="1170" dirty="0">
                <a:solidFill>
                  <a:srgbClr val="CBD5E1"/>
                </a:solidFill>
              </a:rPr>
              <a:t>Popularidad, calificación y votos responden preguntas diferentes.</a:t>
            </a:r>
            <a:endParaRPr lang="en-US" sz="1170" dirty="0"/>
          </a:p>
        </p:txBody>
      </p:sp>
      <p:sp>
        <p:nvSpPr>
          <p:cNvPr id="12" name="Text 10"/>
          <p:cNvSpPr/>
          <p:nvPr/>
        </p:nvSpPr>
        <p:spPr>
          <a:xfrm>
            <a:off x="777240" y="3977640"/>
            <a:ext cx="256032" cy="228600"/>
          </a:xfrm>
          <a:prstGeom prst="rect">
            <a:avLst/>
          </a:prstGeom>
          <a:noFill/>
          <a:ln/>
        </p:spPr>
        <p:txBody>
          <a:bodyPr wrap="square" lIns="0" tIns="0" rIns="0" bIns="0" rtlCol="0" anchor="ctr"/>
          <a:lstStyle/>
          <a:p>
            <a:pPr indent="0" marL="0">
              <a:buNone/>
            </a:pPr>
            <a:r>
              <a:rPr lang="en-US" sz="1700" b="1" dirty="0">
                <a:solidFill>
                  <a:srgbClr val="2A9D8F"/>
                </a:solidFill>
              </a:rPr>
              <a:t>3</a:t>
            </a:r>
            <a:endParaRPr lang="en-US" sz="1700" dirty="0"/>
          </a:p>
        </p:txBody>
      </p:sp>
      <p:sp>
        <p:nvSpPr>
          <p:cNvPr id="13" name="Text 11"/>
          <p:cNvSpPr/>
          <p:nvPr/>
        </p:nvSpPr>
        <p:spPr>
          <a:xfrm>
            <a:off x="1298448" y="3950208"/>
            <a:ext cx="3108960" cy="274320"/>
          </a:xfrm>
          <a:prstGeom prst="rect">
            <a:avLst/>
          </a:prstGeom>
          <a:noFill/>
          <a:ln/>
        </p:spPr>
        <p:txBody>
          <a:bodyPr wrap="square" lIns="0" tIns="0" rIns="0" bIns="0" rtlCol="0" anchor="ctr"/>
          <a:lstStyle/>
          <a:p>
            <a:pPr indent="0" marL="0">
              <a:buNone/>
            </a:pPr>
            <a:r>
              <a:rPr lang="en-US" sz="1700" b="1" dirty="0">
                <a:solidFill>
                  <a:srgbClr val="FFFFFF"/>
                </a:solidFill>
              </a:rPr>
              <a:t>Separar ingreso de retorno</a:t>
            </a:r>
            <a:endParaRPr lang="en-US" sz="1700" dirty="0"/>
          </a:p>
        </p:txBody>
      </p:sp>
      <p:sp>
        <p:nvSpPr>
          <p:cNvPr id="14" name="Text 12"/>
          <p:cNvSpPr/>
          <p:nvPr/>
        </p:nvSpPr>
        <p:spPr>
          <a:xfrm>
            <a:off x="4663440" y="3995928"/>
            <a:ext cx="5303520" cy="219456"/>
          </a:xfrm>
          <a:prstGeom prst="rect">
            <a:avLst/>
          </a:prstGeom>
          <a:noFill/>
          <a:ln/>
        </p:spPr>
        <p:txBody>
          <a:bodyPr wrap="square" lIns="0" tIns="0" rIns="0" bIns="0" rtlCol="0" anchor="ctr"/>
          <a:lstStyle/>
          <a:p>
            <a:pPr indent="0" marL="0">
              <a:buNone/>
            </a:pPr>
            <a:r>
              <a:rPr lang="en-US" sz="1170" dirty="0">
                <a:solidFill>
                  <a:srgbClr val="CBD5E1"/>
                </a:solidFill>
              </a:rPr>
              <a:t>Ingresos absolutos y ROI no priorizan los mismos contenidos.</a:t>
            </a:r>
            <a:endParaRPr lang="en-US" sz="1170" dirty="0"/>
          </a:p>
        </p:txBody>
      </p:sp>
      <p:sp>
        <p:nvSpPr>
          <p:cNvPr id="15" name="Shape 13"/>
          <p:cNvSpPr/>
          <p:nvPr/>
        </p:nvSpPr>
        <p:spPr>
          <a:xfrm>
            <a:off x="768096" y="5257800"/>
            <a:ext cx="4069080" cy="0"/>
          </a:xfrm>
          <a:prstGeom prst="line">
            <a:avLst/>
          </a:prstGeom>
          <a:noFill/>
          <a:ln w="30480">
            <a:solidFill>
              <a:srgbClr val="D17A22"/>
            </a:solidFill>
            <a:prstDash val="solid"/>
          </a:ln>
        </p:spPr>
      </p:sp>
      <p:sp>
        <p:nvSpPr>
          <p:cNvPr id="16" name="Text 14"/>
          <p:cNvSpPr/>
          <p:nvPr/>
        </p:nvSpPr>
        <p:spPr>
          <a:xfrm>
            <a:off x="777240" y="5577840"/>
            <a:ext cx="7315200" cy="320040"/>
          </a:xfrm>
          <a:prstGeom prst="rect">
            <a:avLst/>
          </a:prstGeom>
          <a:noFill/>
          <a:ln/>
        </p:spPr>
        <p:txBody>
          <a:bodyPr wrap="square" lIns="0" tIns="0" rIns="0" bIns="0" rtlCol="0" anchor="ctr"/>
          <a:lstStyle/>
          <a:p>
            <a:pPr indent="0" marL="0">
              <a:buNone/>
            </a:pPr>
            <a:r>
              <a:rPr lang="en-US" sz="1500" b="1" dirty="0">
                <a:solidFill>
                  <a:srgbClr val="D17A22"/>
                </a:solidFill>
              </a:rPr>
              <a:t>El valor no está en tener más datos; está en saber qué decisión permite tomar cada uno.</a:t>
            </a:r>
            <a:endParaRPr lang="en-US" sz="1500" dirty="0"/>
          </a:p>
        </p:txBody>
      </p:sp>
      <p:sp>
        <p:nvSpPr>
          <p:cNvPr id="17" name="Text 15"/>
          <p:cNvSpPr/>
          <p:nvPr/>
        </p:nvSpPr>
        <p:spPr>
          <a:xfrm>
            <a:off x="777240" y="6144768"/>
            <a:ext cx="2560320" cy="228600"/>
          </a:xfrm>
          <a:prstGeom prst="rect">
            <a:avLst/>
          </a:prstGeom>
          <a:noFill/>
          <a:ln/>
        </p:spPr>
        <p:txBody>
          <a:bodyPr wrap="square" lIns="0" tIns="0" rIns="0" bIns="0" rtlCol="0" anchor="ctr"/>
          <a:lstStyle/>
          <a:p>
            <a:pPr indent="0" marL="0">
              <a:buNone/>
            </a:pPr>
            <a:r>
              <a:rPr lang="en-US" sz="1300" b="1" dirty="0">
                <a:solidFill>
                  <a:srgbClr val="FFFFFF"/>
                </a:solidFill>
              </a:rPr>
              <a:t>Muchas gracias</a:t>
            </a:r>
            <a:endParaRPr lang="en-US" sz="1300" dirty="0"/>
          </a:p>
        </p:txBody>
      </p:sp>
      <p:sp>
        <p:nvSpPr>
          <p:cNvPr id="18" name="Text 16"/>
          <p:cNvSpPr/>
          <p:nvPr/>
        </p:nvSpPr>
        <p:spPr>
          <a:xfrm>
            <a:off x="10698480" y="320040"/>
            <a:ext cx="914400" cy="201168"/>
          </a:xfrm>
          <a:prstGeom prst="rect">
            <a:avLst/>
          </a:prstGeom>
          <a:noFill/>
          <a:ln/>
        </p:spPr>
        <p:txBody>
          <a:bodyPr wrap="square" lIns="0" tIns="0" rIns="0" bIns="0" rtlCol="0" anchor="ctr"/>
          <a:lstStyle/>
          <a:p>
            <a:pPr algn="r" indent="0" marL="0">
              <a:buNone/>
            </a:pPr>
            <a:r>
              <a:rPr lang="en-US" sz="1350" b="1" dirty="0">
                <a:solidFill>
                  <a:srgbClr val="FFFFFF"/>
                </a:solidFill>
                <a:latin typeface="Aptos Display" pitchFamily="34" charset="0"/>
                <a:ea typeface="Aptos Display" pitchFamily="34" charset="-122"/>
                <a:cs typeface="Aptos Display" pitchFamily="34" charset="-120"/>
              </a:rPr>
              <a:t>DuocUC</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StreamView Analytics - Presentación 3 actos</dc:title>
  <dc:subject>ADY1104 Visualización de Datos - Presentación StreamView Analytics</dc:subject>
  <dc:creator>César Rojas, Lucas Moncada, Ignacio Silva</dc:creator>
  <cp:lastModifiedBy>César Rojas, Lucas Moncada, Ignacio Silva</cp:lastModifiedBy>
  <cp:revision>1</cp:revision>
  <dcterms:created xsi:type="dcterms:W3CDTF">2026-09-07T07:07:37Z</dcterms:created>
  <dcterms:modified xsi:type="dcterms:W3CDTF">2026-09-07T07:07:37Z</dcterms:modified>
</cp:coreProperties>
</file>